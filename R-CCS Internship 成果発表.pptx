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7" r:id="rId2"/>
    <p:sldId id="258" r:id="rId3"/>
    <p:sldId id="259" r:id="rId4"/>
    <p:sldId id="273" r:id="rId5"/>
    <p:sldId id="265" r:id="rId6"/>
    <p:sldId id="260" r:id="rId7"/>
    <p:sldId id="266" r:id="rId8"/>
    <p:sldId id="267" r:id="rId9"/>
    <p:sldId id="261" r:id="rId10"/>
    <p:sldId id="262" r:id="rId11"/>
    <p:sldId id="268" r:id="rId12"/>
    <p:sldId id="269" r:id="rId13"/>
    <p:sldId id="275" r:id="rId14"/>
    <p:sldId id="270" r:id="rId15"/>
    <p:sldId id="272" r:id="rId16"/>
    <p:sldId id="271" r:id="rId17"/>
    <p:sldId id="274" r:id="rId18"/>
    <p:sldId id="276" r:id="rId19"/>
    <p:sldId id="264" r:id="rId20"/>
    <p:sldId id="263" r:id="rId2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404" autoAdjust="0"/>
  </p:normalViewPr>
  <p:slideViewPr>
    <p:cSldViewPr snapToGrid="0">
      <p:cViewPr varScale="1">
        <p:scale>
          <a:sx n="40" d="100"/>
          <a:sy n="40" d="100"/>
        </p:scale>
        <p:origin x="44" y="78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6B5B6A-0091-46C6-9C50-264C6E981A25}" type="datetimeFigureOut">
              <a:rPr kumimoji="1" lang="ja-JP" altLang="en-US" smtClean="0"/>
              <a:t>2026/8/27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B4B660-D79D-4C97-826E-A460D3BAD104}" type="slidenum">
              <a:rPr kumimoji="1" lang="ja-JP" altLang="en-US" smtClean="0"/>
              <a:t>‹#›</a:t>
            </a:fld>
            <a:endParaRPr kumimoji="1" lang="ja-JP" altLang="en-US"/>
          </a:p>
        </p:txBody>
      </p:sp>
    </p:spTree>
    <p:extLst>
      <p:ext uri="{BB962C8B-B14F-4D97-AF65-F5344CB8AC3E}">
        <p14:creationId xmlns:p14="http://schemas.microsoft.com/office/powerpoint/2010/main" val="413632340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まず今回の目的です</a:t>
            </a:r>
            <a:r>
              <a:rPr dirty="0"/>
              <a:t>。</a:t>
            </a:r>
          </a:p>
          <a:p>
            <a:endParaRPr dirty="0"/>
          </a:p>
          <a:p>
            <a:r>
              <a:rPr dirty="0"/>
              <a:t>富岳のジョブスケジューリングログ、F-DATAから消費電力の時系列データを構築し、事前学習済みの時系列基盤モデルであるChronos-boltと、富岳の稼働データを使って訓練した機械学習モデル、どちらが消費電力予測に強いのかを明らかにすることが目的です。</a:t>
            </a:r>
          </a:p>
          <a:p>
            <a:endParaRPr dirty="0"/>
          </a:p>
          <a:p>
            <a:r>
              <a:rPr lang="ja-JP" altLang="en-US" dirty="0"/>
              <a:t>そして</a:t>
            </a:r>
            <a:r>
              <a:rPr dirty="0"/>
              <a:t>、</a:t>
            </a:r>
            <a:r>
              <a:rPr dirty="0" err="1"/>
              <a:t>その優劣が予測ホライズン、つまりどれくらい先を予測するかや、運用状況の変化によってどう変わるかを検証</a:t>
            </a:r>
            <a:r>
              <a:rPr lang="ja-JP" altLang="en-US" dirty="0"/>
              <a:t>します</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こちらが今回の実行環境です</a:t>
            </a:r>
            <a:r>
              <a:rPr dirty="0"/>
              <a:t>。</a:t>
            </a:r>
          </a:p>
          <a:p>
            <a:endParaRPr dirty="0"/>
          </a:p>
          <a:p>
            <a:r>
              <a:rPr dirty="0"/>
              <a:t>OSはUbuntu、CPUは48コア、メモリ153GBで、GPUは使っていません。つまり今回のChronos-boltやLSTM、TFT-liteといった深層学習系のモデルも含めて、すべてCPUのみで学習・推論を行っています。</a:t>
            </a:r>
          </a:p>
          <a:p>
            <a:endParaRPr dirty="0"/>
          </a:p>
          <a:p>
            <a:r>
              <a:rPr dirty="0" err="1"/>
              <a:t>ライブラリはpandasやnumpy、scikit</a:t>
            </a:r>
            <a:r>
              <a:rPr lang="en-US" dirty="0"/>
              <a:t>(</a:t>
            </a:r>
            <a:r>
              <a:rPr lang="ja-JP" altLang="en-US" dirty="0"/>
              <a:t>サイキット</a:t>
            </a:r>
            <a:r>
              <a:rPr lang="en-US" dirty="0"/>
              <a:t>)</a:t>
            </a:r>
            <a:r>
              <a:rPr dirty="0"/>
              <a:t>-</a:t>
            </a:r>
            <a:r>
              <a:rPr dirty="0" err="1"/>
              <a:t>learnといった標準的なものに加えて、勾配ブースティングのLightGBM、変化点検知のruptures</a:t>
            </a:r>
            <a:r>
              <a:rPr lang="en-US" dirty="0"/>
              <a:t>(</a:t>
            </a:r>
            <a:r>
              <a:rPr lang="ja-JP" altLang="en-US" dirty="0"/>
              <a:t>ラプチャーズ</a:t>
            </a:r>
            <a:r>
              <a:rPr lang="en-US" dirty="0"/>
              <a:t>)</a:t>
            </a:r>
            <a:r>
              <a:rPr dirty="0"/>
              <a:t>、深層学習フレームワークのPyTorchとtransformers、そしてChronosを動かすためのchronos-forecastingを使用しています。</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dirty="0" err="1"/>
              <a:t>ここからは、実際にデータをどう作ったかを説明します</a:t>
            </a:r>
            <a:r>
              <a:rPr dirty="0"/>
              <a:t>。</a:t>
            </a:r>
          </a:p>
          <a:p>
            <a:endParaRPr dirty="0"/>
          </a:p>
          <a:p>
            <a:r>
              <a:rPr dirty="0"/>
              <a:t>F-DATAは、富岳のジョブスケジューリングシステムが記録した、ジョブ単位の生ログです。これを時系列に変換し、消費電力の推移として扱えるようにしました。</a:t>
            </a:r>
          </a:p>
          <a:p>
            <a:endParaRPr dirty="0"/>
          </a:p>
          <a:p>
            <a:r>
              <a:rPr lang="en-US" dirty="0"/>
              <a:t>1</a:t>
            </a:r>
            <a:r>
              <a:rPr lang="ja-JP" altLang="en-US" dirty="0"/>
              <a:t>時間起きに平均を取って時系列に変換した電力の推移が黒い線、薄い線は生データです。このグラフを見ると、ところどころ突然落ち込んだりしている部分があると思います。</a:t>
            </a:r>
            <a:r>
              <a:rPr dirty="0" err="1"/>
              <a:t>こうした急激な変化が、後ほど紹介する「安定期</a:t>
            </a:r>
            <a:r>
              <a:rPr dirty="0"/>
              <a:t>」「</a:t>
            </a:r>
            <a:r>
              <a:rPr dirty="0" err="1"/>
              <a:t>遷移期」という分析にもつながってきます</a:t>
            </a:r>
            <a:r>
              <a:rPr dirty="0"/>
              <a:t>。</a:t>
            </a:r>
          </a:p>
        </p:txBody>
      </p:sp>
      <p:sp>
        <p:nvSpPr>
          <p:cNvPr id="4" name="スライド番号プレースホルダー 3"/>
          <p:cNvSpPr>
            <a:spLocks noGrp="1"/>
          </p:cNvSpPr>
          <p:nvPr>
            <p:ph type="sldNum" sz="quarter" idx="5"/>
          </p:nvPr>
        </p:nvSpPr>
        <p:spPr/>
        <p:txBody>
          <a:bodyPr/>
          <a:lstStyle/>
          <a:p>
            <a:fld id="{A0B4B660-D79D-4C97-826E-A460D3BAD104}" type="slidenum">
              <a:rPr kumimoji="1" lang="ja-JP" altLang="en-US" smtClean="0"/>
              <a:t>5</a:t>
            </a:fld>
            <a:endParaRPr kumimoji="1" lang="ja-JP" altLang="en-US"/>
          </a:p>
        </p:txBody>
      </p:sp>
    </p:spTree>
    <p:extLst>
      <p:ext uri="{BB962C8B-B14F-4D97-AF65-F5344CB8AC3E}">
        <p14:creationId xmlns:p14="http://schemas.microsoft.com/office/powerpoint/2010/main" val="6531287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dirty="0"/>
              <a:t>このスライドでは、7つのモデルをどう比較したかという実験設計を説明します。</a:t>
            </a:r>
          </a:p>
          <a:p>
            <a:endParaRPr dirty="0"/>
          </a:p>
          <a:p>
            <a:r>
              <a:rPr dirty="0"/>
              <a:t>比較するのは、Chronos-bolt、LightGBM、LSTM、TFT-liteの4つのアーキテクチャです。ただし表にある通り、Chronos以外の3つのモデルはそれぞれ2パターンずつ学習しているので、実験としては合計7パターンになります。</a:t>
            </a:r>
          </a:p>
          <a:p>
            <a:endParaRPr dirty="0"/>
          </a:p>
          <a:p>
            <a:r>
              <a:rPr dirty="0" err="1"/>
              <a:t>ポイントは条件の揃え方です。表の左側の列、Chronos-boltと</a:t>
            </a:r>
            <a:r>
              <a:rPr lang="en-US" dirty="0"/>
              <a:t> </a:t>
            </a:r>
            <a:r>
              <a:rPr lang="ja-JP" altLang="en-US" dirty="0"/>
              <a:t>機械学習</a:t>
            </a:r>
            <a:r>
              <a:rPr dirty="0"/>
              <a:t>の3モデルは、どれも「電力の過去系列のみ」を使っていて、情報量を揃えています。これに対して右側の+covariateの3モデルだけが、電力以外の運用シグナ</a:t>
            </a:r>
            <a:r>
              <a:rPr lang="ja-JP" altLang="en-US" dirty="0"/>
              <a:t>ルを追加で与えています。</a:t>
            </a:r>
          </a:p>
          <a:p>
            <a:endParaRPr lang="ja-JP" altLang="en-US" dirty="0"/>
          </a:p>
          <a:p>
            <a:r>
              <a:rPr lang="ja-JP" altLang="en-US" dirty="0"/>
              <a:t>「同じモデルでも、追加情報を与えると精度がどう変わるか」を比較でき、「同じ条件下でモデルアーキテクチャの違いがどう効くか」を比較できる設計になっています。</a:t>
            </a:r>
          </a:p>
          <a:p>
            <a:endParaRPr dirty="0"/>
          </a:p>
          <a:p>
            <a:r>
              <a:rPr dirty="0"/>
              <a:t>次のスライドから、実際に実装した4つのアーキテクチャの中身を説明します。</a:t>
            </a:r>
          </a:p>
        </p:txBody>
      </p:sp>
      <p:sp>
        <p:nvSpPr>
          <p:cNvPr id="4" name="スライド番号プレースホルダー 3"/>
          <p:cNvSpPr>
            <a:spLocks noGrp="1"/>
          </p:cNvSpPr>
          <p:nvPr>
            <p:ph type="sldNum" sz="quarter" idx="5"/>
          </p:nvPr>
        </p:nvSpPr>
        <p:spPr/>
        <p:txBody>
          <a:bodyPr/>
          <a:lstStyle/>
          <a:p>
            <a:fld id="{A0B4B660-D79D-4C97-826E-A460D3BAD104}" type="slidenum">
              <a:rPr kumimoji="1" lang="ja-JP" altLang="en-US" smtClean="0"/>
              <a:t>6</a:t>
            </a:fld>
            <a:endParaRPr kumimoji="1" lang="ja-JP" altLang="en-US"/>
          </a:p>
        </p:txBody>
      </p:sp>
    </p:spTree>
    <p:extLst>
      <p:ext uri="{BB962C8B-B14F-4D97-AF65-F5344CB8AC3E}">
        <p14:creationId xmlns:p14="http://schemas.microsoft.com/office/powerpoint/2010/main" val="9667347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dirty="0" err="1"/>
              <a:t>実装したアーキテクチャ</a:t>
            </a:r>
            <a:r>
              <a:rPr lang="ja-JP" altLang="en-US" dirty="0"/>
              <a:t>の説明です</a:t>
            </a:r>
            <a:endParaRPr dirty="0"/>
          </a:p>
          <a:p>
            <a:endParaRPr dirty="0"/>
          </a:p>
          <a:p>
            <a:r>
              <a:rPr dirty="0"/>
              <a:t>まずChronos-boltは、時系列基盤モデルです。大量かつ多様な時系列データで事前学習済みのモデルで、今回は富岳のデータでの追加学習は一切行わず、直近の消費電力の推移だけを見て先を予測する、zero-shotという使い方をしています。学習コストが一切かからないのが最大の特徴です。</a:t>
            </a:r>
          </a:p>
          <a:p>
            <a:endParaRPr dirty="0"/>
          </a:p>
          <a:p>
            <a:r>
              <a:rPr dirty="0"/>
              <a:t>一方LightGBMは、勾配ブースティング木という手法です。小さな決定木を大量に重ねて、前の木の誤差を次の木が修正していく方式で、</a:t>
            </a:r>
            <a:r>
              <a:rPr lang="ja-JP" altLang="en-US" dirty="0"/>
              <a:t>木の伸ばし方や数値の間引き方に工夫があり、非常に高速かつ省メモリで動きます</a:t>
            </a:r>
            <a:r>
              <a:rPr dirty="0"/>
              <a:t>。こちらは富岳データを使ってしっかり学習させています。</a:t>
            </a:r>
          </a:p>
          <a:p>
            <a:endParaRPr dirty="0"/>
          </a:p>
          <a:p>
            <a:r>
              <a:rPr dirty="0"/>
              <a:t>この2つは、事前学習済みでそのまま使うアプローチと、データに合わせてゼロから学習させるアプローチという、対照的な立ち位置のモデルです。</a:t>
            </a:r>
            <a:endParaRPr lang="en-US" dirty="0"/>
          </a:p>
          <a:p>
            <a:endParaRPr lang="en-US" dirty="0"/>
          </a:p>
          <a:p>
            <a:endParaRPr lang="en-US" dirty="0"/>
          </a:p>
          <a:p>
            <a:pPr rtl="0"/>
            <a:r>
              <a:rPr lang="en-US" altLang="ja-JP" dirty="0"/>
              <a:t>CLAUDE</a:t>
            </a:r>
          </a:p>
          <a:p>
            <a:pPr rtl="0"/>
            <a:r>
              <a:rPr lang="en-US" altLang="ja-JP" dirty="0" err="1"/>
              <a:t>LightGBM</a:t>
            </a:r>
            <a:r>
              <a:rPr lang="ja-JP" altLang="en-US" dirty="0"/>
              <a:t>の詳しい説明</a:t>
            </a:r>
            <a:endParaRPr lang="en-US" altLang="ja-JP" dirty="0"/>
          </a:p>
          <a:p>
            <a:pPr rtl="0"/>
            <a:r>
              <a:rPr lang="ja-JP" altLang="ja-JP" dirty="0"/>
              <a:t>1つ目は、木の伸ばし方です。普通は木を左右均等にバランスよく伸ばしますが、LightGBMは「一番効果がありそうな枝」を優先して伸ばします。無駄な枝を作らないので、少ない木の数で精度が出ます。</a:t>
            </a:r>
          </a:p>
          <a:p>
            <a:pPr rtl="0"/>
            <a:r>
              <a:rPr lang="ja-JP" altLang="ja-JP" dirty="0"/>
              <a:t>2つ目は、データの間引き方です。すでによく当てられているデータは軽く扱い、まだ間違えているデータを重点的に見ることで、計算量を減らしています。</a:t>
            </a:r>
          </a:p>
          <a:p>
            <a:endParaRPr dirty="0"/>
          </a:p>
        </p:txBody>
      </p:sp>
      <p:sp>
        <p:nvSpPr>
          <p:cNvPr id="4" name="スライド番号プレースホルダー 3"/>
          <p:cNvSpPr>
            <a:spLocks noGrp="1"/>
          </p:cNvSpPr>
          <p:nvPr>
            <p:ph type="sldNum" sz="quarter" idx="5"/>
          </p:nvPr>
        </p:nvSpPr>
        <p:spPr/>
        <p:txBody>
          <a:bodyPr/>
          <a:lstStyle/>
          <a:p>
            <a:fld id="{A0B4B660-D79D-4C97-826E-A460D3BAD104}" type="slidenum">
              <a:rPr kumimoji="1" lang="ja-JP" altLang="en-US" smtClean="0"/>
              <a:t>7</a:t>
            </a:fld>
            <a:endParaRPr kumimoji="1" lang="ja-JP" altLang="en-US"/>
          </a:p>
        </p:txBody>
      </p:sp>
    </p:spTree>
    <p:extLst>
      <p:ext uri="{BB962C8B-B14F-4D97-AF65-F5344CB8AC3E}">
        <p14:creationId xmlns:p14="http://schemas.microsoft.com/office/powerpoint/2010/main" val="11565277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dirty="0"/>
              <a:t>LSTM</a:t>
            </a:r>
            <a:r>
              <a:rPr lang="en-US" dirty="0"/>
              <a:t>(</a:t>
            </a:r>
            <a:r>
              <a:rPr lang="ja-JP" altLang="ja-JP" dirty="0"/>
              <a:t>Long Short-Term Memory</a:t>
            </a:r>
            <a:r>
              <a:rPr lang="en-US" dirty="0"/>
              <a:t>)</a:t>
            </a:r>
            <a:r>
              <a:rPr dirty="0"/>
              <a:t>は</a:t>
            </a:r>
            <a:r>
              <a:rPr lang="ja-JP" altLang="en-US" dirty="0"/>
              <a:t>リカレントニューラルネットワーク</a:t>
            </a:r>
            <a:r>
              <a:rPr dirty="0"/>
              <a:t>系のモデルで、時系列を1時間ずつ順番に読みながら、それまでの流れを記憶として引き継いでいきます。</a:t>
            </a:r>
            <a:r>
              <a:rPr lang="ja-JP" altLang="en-US" dirty="0"/>
              <a:t>昔の重要なデータも記憶しておけるという強みがあります</a:t>
            </a:r>
            <a:endParaRPr dirty="0"/>
          </a:p>
          <a:p>
            <a:endParaRPr dirty="0"/>
          </a:p>
          <a:p>
            <a:r>
              <a:rPr dirty="0"/>
              <a:t>TFTはAttention系、Chronosと同じTransformer系の仕組みを使ったモデルですが、Chronosとは違い、富岳データのみを使ってゼロから学習させています。</a:t>
            </a:r>
            <a:r>
              <a:rPr lang="ja-JP" altLang="ja-JP" dirty="0"/>
              <a:t>時系列予測に特化したTransformerベースのモデル</a:t>
            </a:r>
            <a:r>
              <a:rPr lang="ja-JP" altLang="en-US" dirty="0"/>
              <a:t>であり、</a:t>
            </a:r>
            <a:r>
              <a:rPr lang="ja-JP" altLang="ja-JP" dirty="0"/>
              <a:t>過去のデータから未来の数値を当てるタスクのために設計されて</a:t>
            </a:r>
            <a:r>
              <a:rPr lang="ja-JP" altLang="en-US" dirty="0"/>
              <a:t>います。今回は「どの情報が重要か自動で重み付けする」仕組みと「直近</a:t>
            </a:r>
            <a:r>
              <a:rPr lang="en-US" altLang="ja-JP" dirty="0"/>
              <a:t>1</a:t>
            </a:r>
            <a:r>
              <a:rPr lang="ja-JP" altLang="en-US" dirty="0"/>
              <a:t>週間の中で、特に注目すべき時点に注意を向ける」仕組みだけを実装した簡易版であるため、</a:t>
            </a:r>
            <a:r>
              <a:rPr lang="en-US" altLang="ja-JP" dirty="0"/>
              <a:t>Lite</a:t>
            </a:r>
            <a:r>
              <a:rPr lang="ja-JP" altLang="en-US" dirty="0"/>
              <a:t>と表現しています。</a:t>
            </a:r>
            <a:endParaRPr lang="en-US" altLang="ja-JP" dirty="0"/>
          </a:p>
          <a:p>
            <a:endParaRPr lang="en-US" dirty="0"/>
          </a:p>
          <a:p>
            <a:endParaRPr lang="en-US" dirty="0"/>
          </a:p>
          <a:p>
            <a:endParaRPr lang="en-US" dirty="0"/>
          </a:p>
          <a:p>
            <a:endParaRPr lang="en-US" dirty="0"/>
          </a:p>
          <a:p>
            <a:r>
              <a:rPr lang="en-US" dirty="0"/>
              <a:t>CLAUDE</a:t>
            </a:r>
          </a:p>
          <a:p>
            <a:r>
              <a:rPr lang="ja-JP" altLang="ja-JP" dirty="0"/>
              <a:t>RNNは、文章や時系列データのように「順番に意味がある」データを扱うのが得意で、1つ前の情報を覚えながら次のデータを処理していく仕組みです。</a:t>
            </a:r>
            <a:r>
              <a:rPr lang="ja-JP" altLang="en-US" dirty="0"/>
              <a:t>弱点は、少しずつ記憶が薄れていくこと</a:t>
            </a:r>
            <a:endParaRPr lang="en-US" altLang="ja-JP" dirty="0"/>
          </a:p>
          <a:p>
            <a:endParaRPr lang="en-US" altLang="ja-JP" dirty="0"/>
          </a:p>
          <a:p>
            <a:r>
              <a:rPr lang="en-US" altLang="ja-JP" dirty="0"/>
              <a:t>TFT</a:t>
            </a:r>
          </a:p>
          <a:p>
            <a:r>
              <a:rPr lang="ja-JP" altLang="ja-JP" dirty="0"/>
              <a:t>「色々な種類の情報が混ざっている」という現実的な問題にうまく対応できる点です。たとえば店舗の売上を予測したいとき、使いたい情報には次のようなものがあります。過去の売上そのもの(時間とともに変化する)、その店の立地や規模(時間が経っても変わらない)、そして「来週はセール予定がある」といった未来の時点で既にわかっている情報です。従来のモデルはこうした異なる性質のデータを一緒くたに扱いがちでしたが、TFTはこれらを種類ごとに分けて処理し、「今回の予測にはどの情報がどれくらい重要か」を自動で判断する仕組み(Variable Selection Network)を持っています。</a:t>
            </a:r>
            <a:r>
              <a:rPr lang="en-US" altLang="ja-JP" dirty="0"/>
              <a:t>Attention</a:t>
            </a:r>
            <a:r>
              <a:rPr lang="ja-JP" altLang="en-US" dirty="0"/>
              <a:t>は、入力の中のどの部分が重要かをモデル自身に判断させる仕組み</a:t>
            </a:r>
            <a:endParaRPr lang="en-US" altLang="ja-JP" dirty="0"/>
          </a:p>
        </p:txBody>
      </p:sp>
      <p:sp>
        <p:nvSpPr>
          <p:cNvPr id="4" name="スライド番号プレースホルダー 3"/>
          <p:cNvSpPr>
            <a:spLocks noGrp="1"/>
          </p:cNvSpPr>
          <p:nvPr>
            <p:ph type="sldNum" sz="quarter" idx="5"/>
          </p:nvPr>
        </p:nvSpPr>
        <p:spPr/>
        <p:txBody>
          <a:bodyPr/>
          <a:lstStyle/>
          <a:p>
            <a:fld id="{A0B4B660-D79D-4C97-826E-A460D3BAD104}" type="slidenum">
              <a:rPr kumimoji="1" lang="ja-JP" altLang="en-US" smtClean="0"/>
              <a:t>8</a:t>
            </a:fld>
            <a:endParaRPr kumimoji="1" lang="ja-JP" altLang="en-US"/>
          </a:p>
        </p:txBody>
      </p:sp>
    </p:spTree>
    <p:extLst>
      <p:ext uri="{BB962C8B-B14F-4D97-AF65-F5344CB8AC3E}">
        <p14:creationId xmlns:p14="http://schemas.microsoft.com/office/powerpoint/2010/main" val="13824886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test全体</a:t>
            </a:r>
            <a:r>
              <a:rPr lang="ja-JP" altLang="en-US" dirty="0"/>
              <a:t>の</a:t>
            </a:r>
            <a:r>
              <a:rPr dirty="0" err="1"/>
              <a:t>結果</a:t>
            </a:r>
            <a:r>
              <a:rPr lang="ja-JP" altLang="en-US" dirty="0"/>
              <a:t>です。</a:t>
            </a:r>
            <a:endParaRPr dirty="0"/>
          </a:p>
          <a:p>
            <a:endParaRPr dirty="0"/>
          </a:p>
          <a:p>
            <a:r>
              <a:rPr dirty="0"/>
              <a:t>右の表は、7パターンをMASEという指標で並べたものです。MASEは、24時間前の値をそのまま使う予測と比べて誤差がどれくらいの比率かを表す指標で、1より小さいほど、優れていることになります。</a:t>
            </a:r>
          </a:p>
          <a:p>
            <a:endParaRPr dirty="0"/>
          </a:p>
          <a:p>
            <a:r>
              <a:rPr dirty="0"/>
              <a:t>結果として、学習を一切行っていないChronos-boltが0.684でトップになりました。富岳データだけで訓練した残り6モデル、つまり</a:t>
            </a:r>
            <a:r>
              <a:rPr lang="ja-JP" altLang="en-US" dirty="0"/>
              <a:t>消費電力</a:t>
            </a:r>
            <a:r>
              <a:rPr dirty="0"/>
              <a:t>とcovariateを合わせた6パターン全てを上回っています。</a:t>
            </a:r>
          </a:p>
          <a:p>
            <a:endParaRPr dirty="0"/>
          </a:p>
          <a:p>
            <a:r>
              <a:rPr lang="ja-JP" altLang="en-US" dirty="0"/>
              <a:t>差の大きさに注目すると、</a:t>
            </a:r>
            <a:r>
              <a:rPr dirty="0"/>
              <a:t>2位のLightGBM、+covariate版も0.724とかなり僅差で、実は7モデルの多くが0.72から0.75のレンジに集まっています。唯一大きく外れているのがLSTMの+covariate版で0.889でした。</a:t>
            </a:r>
          </a:p>
          <a:p>
            <a:endParaRPr dirty="0"/>
          </a:p>
          <a:p>
            <a:r>
              <a:rPr dirty="0"/>
              <a:t>学習コストも特徴量設計の手間もかけていないChronosが、最良のML手法をわずかに上回る精度を出せている、というのがこの結果から言え</a:t>
            </a:r>
            <a:r>
              <a:rPr lang="ja-JP" altLang="en-US" dirty="0"/>
              <a:t>ます。</a:t>
            </a:r>
            <a:endParaRPr lang="en-US" dirty="0"/>
          </a:p>
          <a:p>
            <a:endParaRPr lang="en-US" dirty="0"/>
          </a:p>
          <a:p>
            <a:endParaRPr lang="en-US" dirty="0"/>
          </a:p>
          <a:p>
            <a:endParaRPr lang="en-US" dirty="0"/>
          </a:p>
          <a:p>
            <a:r>
              <a:rPr lang="en-US" altLang="ja-JP" dirty="0"/>
              <a:t>train=2021-04-01〜2022-07-01</a:t>
            </a:r>
            <a:r>
              <a:rPr lang="ja-JP" altLang="en-US" dirty="0"/>
              <a:t>、</a:t>
            </a:r>
            <a:r>
              <a:rPr lang="en-US" altLang="ja-JP" dirty="0"/>
              <a:t>valid=2022-07-01〜2022-10-01</a:t>
            </a:r>
            <a:r>
              <a:rPr lang="ja-JP" altLang="en-US" dirty="0"/>
              <a:t>、</a:t>
            </a:r>
            <a:r>
              <a:rPr lang="en-US" altLang="ja-JP" dirty="0"/>
              <a:t>test=2022-10-01〜2024-04-25</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先ほどの結果から言えることをまとめます</a:t>
            </a:r>
            <a:r>
              <a:rPr dirty="0"/>
              <a:t>。</a:t>
            </a:r>
          </a:p>
          <a:p>
            <a:endParaRPr dirty="0"/>
          </a:p>
          <a:p>
            <a:r>
              <a:rPr dirty="0" err="1"/>
              <a:t>ChronosがMASE</a:t>
            </a:r>
            <a:r>
              <a:rPr dirty="0"/>
              <a:t> 0.684でもっとも精度が良いという結果でした。ここから言える</a:t>
            </a:r>
            <a:r>
              <a:rPr lang="ja-JP" altLang="en-US" dirty="0"/>
              <a:t>ことは、</a:t>
            </a:r>
            <a:endParaRPr dirty="0"/>
          </a:p>
          <a:p>
            <a:endParaRPr dirty="0"/>
          </a:p>
          <a:p>
            <a:r>
              <a:rPr dirty="0"/>
              <a:t>学習も特徴量設計も運用のコストも一切かけずに、富岳データで訓練したMLモデルと同等以上の精度が出せるということです。つまり、時系列予測にまず着手する際には、「</a:t>
            </a:r>
            <a:r>
              <a:rPr dirty="0" err="1"/>
              <a:t>まずzero-shotの基盤モデルを試してみる」というのが合理的な出発点にな</a:t>
            </a:r>
            <a:r>
              <a:rPr lang="ja-JP" altLang="en-US" dirty="0"/>
              <a:t>る可能性があります</a:t>
            </a:r>
            <a:r>
              <a:rPr dirty="0"/>
              <a:t>。</a:t>
            </a:r>
            <a:endParaRPr lang="en-US" dirty="0"/>
          </a:p>
          <a:p>
            <a:r>
              <a:rPr lang="ja-JP" altLang="en-US" dirty="0"/>
              <a:t>しかし、逆に</a:t>
            </a:r>
            <a:r>
              <a:rPr lang="en-US" altLang="ja-JP" dirty="0"/>
              <a:t>train</a:t>
            </a:r>
            <a:r>
              <a:rPr lang="ja-JP" altLang="en-US" dirty="0"/>
              <a:t>した機械学習モデルも</a:t>
            </a:r>
            <a:r>
              <a:rPr lang="en-US" altLang="ja-JP" dirty="0"/>
              <a:t>0.724</a:t>
            </a:r>
            <a:r>
              <a:rPr lang="ja-JP" altLang="en-US" dirty="0"/>
              <a:t>という精度を出しており、</a:t>
            </a:r>
            <a:r>
              <a:rPr lang="en-US" altLang="ja-JP" dirty="0"/>
              <a:t>Chronos</a:t>
            </a:r>
            <a:r>
              <a:rPr lang="ja-JP" altLang="en-US" dirty="0"/>
              <a:t>との差はそこまでありません。ただし全体集計では</a:t>
            </a:r>
            <a:r>
              <a:rPr lang="en-US" altLang="ja-JP" dirty="0"/>
              <a:t>Chronos</a:t>
            </a:r>
            <a:r>
              <a:rPr lang="ja-JP" altLang="en-US" dirty="0"/>
              <a:t>を上回れておらず、学習コストに見合うかどうかはこの結果だけでは判断できません。</a:t>
            </a:r>
            <a:endParaRPr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次に、予測ホライズン、つまり何時間先を予測するかによって結果がどう変わるかを見ていきます</a:t>
            </a:r>
            <a:r>
              <a:rPr dirty="0"/>
              <a:t>。</a:t>
            </a:r>
          </a:p>
          <a:p>
            <a:endParaRPr dirty="0"/>
          </a:p>
          <a:p>
            <a:r>
              <a:rPr dirty="0"/>
              <a:t>グラフの通り、短期、1時間から24時間先の予測では、Chronosが常に優位で、MASEも0.628とLightGBMの0.697を上回っています。一方、中期、48時間から168時間先になると、今度はLightGBMが明確に上回り、Chronosは0.911、LightGBMは0.833となっています。</a:t>
            </a:r>
          </a:p>
          <a:p>
            <a:endParaRPr dirty="0"/>
          </a:p>
          <a:p>
            <a:r>
              <a:rPr dirty="0"/>
              <a:t>この優劣が入れ替わる原因として、2つ考え</a:t>
            </a:r>
            <a:r>
              <a:rPr lang="ja-JP" altLang="en-US" dirty="0"/>
              <a:t>られます</a:t>
            </a:r>
            <a:r>
              <a:rPr dirty="0"/>
              <a:t>。1つは、Chronosがそもそも長期予測に適したアーキテクチャではないこと。もう1つは、Chronosがzero-shotであるため、曜日や時間帯といったカレンダー情報を予測に活用できないことです。LightGBMはこうした情報を特徴量として明示的に使えるので、先になるほど有利になると考えられます。</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dirty="0" err="1"/>
              <a:t>続いて、時期による分析です</a:t>
            </a:r>
            <a:r>
              <a:rPr dirty="0"/>
              <a:t>。</a:t>
            </a:r>
          </a:p>
          <a:p>
            <a:endParaRPr dirty="0"/>
          </a:p>
          <a:p>
            <a:r>
              <a:rPr dirty="0"/>
              <a:t>富岳の消費電力は、突然大幅に変化することがあります。そこで、この大幅な変化の前後±14日を「遷移期」、それ以外を「安定期」と定義し、主にLightGBMのモデルを使って、covariateを与えることが精度向上につながるかを確認しました。</a:t>
            </a:r>
          </a:p>
          <a:p>
            <a:endParaRPr dirty="0"/>
          </a:p>
          <a:p>
            <a:r>
              <a:rPr dirty="0"/>
              <a:t>表を見ると、7モデル平均のMASEは安定期が0.79なのに対し、遷移期は0.90と、14%悪化しています。さらに注目してほしいのが、covariateの効果です。安定期では、短期・中期ともにcovariateを与えることでそれぞれ2.3%、1.1%改善しています。ところが遷移期では逆に、短期で5.3%、中期で2.9%悪化してしまいました。</a:t>
            </a:r>
          </a:p>
          <a:p>
            <a:endParaRPr dirty="0"/>
          </a:p>
          <a:p>
            <a:r>
              <a:rPr dirty="0"/>
              <a:t>つまり、安定期ではcovariateを与えると精度が向上する一方、遷移期ではcovariateを与えるとむしろ悪化する、という結果になっています。</a:t>
            </a:r>
          </a:p>
        </p:txBody>
      </p:sp>
      <p:sp>
        <p:nvSpPr>
          <p:cNvPr id="4" name="スライド番号プレースホルダー 3"/>
          <p:cNvSpPr>
            <a:spLocks noGrp="1"/>
          </p:cNvSpPr>
          <p:nvPr>
            <p:ph type="sldNum" sz="quarter" idx="5"/>
          </p:nvPr>
        </p:nvSpPr>
        <p:spPr/>
        <p:txBody>
          <a:bodyPr/>
          <a:lstStyle/>
          <a:p>
            <a:fld id="{A0B4B660-D79D-4C97-826E-A460D3BAD104}" type="slidenum">
              <a:rPr kumimoji="1" lang="ja-JP" altLang="en-US" smtClean="0"/>
              <a:t>12</a:t>
            </a:fld>
            <a:endParaRPr kumimoji="1" lang="ja-JP" altLang="en-US"/>
          </a:p>
        </p:txBody>
      </p:sp>
    </p:spTree>
    <p:extLst>
      <p:ext uri="{BB962C8B-B14F-4D97-AF65-F5344CB8AC3E}">
        <p14:creationId xmlns:p14="http://schemas.microsoft.com/office/powerpoint/2010/main" val="20072122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遷移期のほうが予測が難しいこと自体は想定通りでした</a:t>
            </a:r>
            <a:r>
              <a:rPr lang="ja-JP" altLang="en-US" dirty="0"/>
              <a:t>が</a:t>
            </a:r>
            <a:r>
              <a:rPr dirty="0"/>
              <a:t>、追加の情報であるはずのcovariateを与えることで、むしろ精度が落ちてしまったのは想定外でした。</a:t>
            </a:r>
          </a:p>
          <a:p>
            <a:endParaRPr dirty="0"/>
          </a:p>
          <a:p>
            <a:r>
              <a:rPr dirty="0"/>
              <a:t>考えられる理由は、covariateの特徴量には予測を始めた時点でのスナップショット値が含まれている、という点です。安定期であれば、このスナップショットは近い将来もある程度当てになります。しかし運用状況が急変する遷移期では、このスナップショットは数日で実態と乖離してしまいます。つまり遷移期では、古い情報がかえって予測をミスリードする方向に働いてしまった可能性があります。</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ここからは少し視点を変えて、この予測結果を実際のコスト削減にどう活かせるかを、Newsvendor理論を使って考えます</a:t>
            </a:r>
            <a:r>
              <a:rPr dirty="0"/>
              <a:t>。</a:t>
            </a:r>
          </a:p>
          <a:p>
            <a:endParaRPr dirty="0"/>
          </a:p>
          <a:p>
            <a:r>
              <a:rPr dirty="0"/>
              <a:t>Newsvendor理論というのは、事前に需要が分からないものを、どれくらい仕入れればよいかを扱う理論です。品切れのコストと売れ残りのコストが非対称なとき、最適な仕入れ量は平均需要ではなく、需要分布のある1点、分位点で決まる、というのがポイントです。</a:t>
            </a:r>
          </a:p>
          <a:p>
            <a:endParaRPr dirty="0"/>
          </a:p>
          <a:p>
            <a:r>
              <a:rPr dirty="0" err="1"/>
              <a:t>これを富岳に応用します。表にある通り、Newsvendor理論の「需要」を消費電力y</a:t>
            </a:r>
            <a:r>
              <a:rPr dirty="0"/>
              <a:t>、「</a:t>
            </a:r>
            <a:r>
              <a:rPr dirty="0" err="1"/>
              <a:t>仕入れ量」を確保する冷却容量C</a:t>
            </a:r>
            <a:r>
              <a:rPr dirty="0"/>
              <a:t>、「</a:t>
            </a:r>
            <a:r>
              <a:rPr dirty="0" err="1"/>
              <a:t>品切れコスト」を容量超過時の緊急対応コストr</a:t>
            </a:r>
            <a:r>
              <a:rPr dirty="0"/>
              <a:t>、「</a:t>
            </a:r>
            <a:r>
              <a:rPr dirty="0" err="1"/>
              <a:t>売れ残りコスト」を遊休容量の無駄として対応づけます。この設定のもとで、最適な冷却容量はq</a:t>
            </a:r>
            <a:r>
              <a:rPr dirty="0"/>
              <a:t>*=r/(1+r)</a:t>
            </a:r>
            <a:r>
              <a:rPr dirty="0" err="1"/>
              <a:t>分位点として求まります</a:t>
            </a:r>
            <a:r>
              <a:rPr dirty="0"/>
              <a:t>。</a:t>
            </a:r>
            <a:endParaRPr lang="en-US" dirty="0"/>
          </a:p>
          <a:p>
            <a:endParaRPr lang="en-US" dirty="0"/>
          </a:p>
          <a:p>
            <a:endParaRPr lang="en-US" dirty="0"/>
          </a:p>
          <a:p>
            <a:endParaRPr lang="en-US" dirty="0"/>
          </a:p>
          <a:p>
            <a:r>
              <a:rPr lang="en-US" dirty="0"/>
              <a:t>CLAUDE</a:t>
            </a:r>
          </a:p>
          <a:p>
            <a:r>
              <a:rPr lang="ja-JP" altLang="en-US" dirty="0"/>
              <a:t>分位点が</a:t>
            </a:r>
            <a:r>
              <a:rPr lang="en-US" altLang="ja-JP" dirty="0"/>
              <a:t>p90</a:t>
            </a:r>
            <a:r>
              <a:rPr lang="ja-JP" altLang="en-US" dirty="0"/>
              <a:t>の場合、</a:t>
            </a:r>
            <a:r>
              <a:rPr lang="en-US" altLang="ja-JP" dirty="0"/>
              <a:t>90</a:t>
            </a:r>
            <a:r>
              <a:rPr lang="ja-JP" altLang="en-US" dirty="0"/>
              <a:t>％の確率で実際の消費電力の値が予測された消費電力量より低くなる</a:t>
            </a:r>
            <a:endParaRPr lang="en-US" altLang="ja-JP"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dirty="0" err="1"/>
              <a:t>具体的な計算式がこちらです</a:t>
            </a:r>
            <a:r>
              <a:rPr dirty="0"/>
              <a:t>。</a:t>
            </a:r>
          </a:p>
          <a:p>
            <a:endParaRPr dirty="0"/>
          </a:p>
          <a:p>
            <a:r>
              <a:rPr dirty="0"/>
              <a:t>引当量Cを消費電力yが超えてしまうと緊急冷却などの高コストが発生し、逆にCがyを下回ると遊休容量の無駄が生じます。この非対称なコストを最小化する最適な引当量を、Newsvendor理論を使って予測します。ここでは、平均的に一番精度が良かったモデルであるChronosを例にしています。</a:t>
            </a:r>
          </a:p>
          <a:p>
            <a:endParaRPr dirty="0"/>
          </a:p>
          <a:p>
            <a:r>
              <a:rPr dirty="0" err="1"/>
              <a:t>コストの式は、cost</a:t>
            </a:r>
            <a:r>
              <a:rPr dirty="0"/>
              <a:t>(y, C) = r × max(y−C, 0) + 1 × max(C−y, 0)で、品切れコストの重みrを9として、1年分のテストデータ全体に適用し、平均コストを比較しました。</a:t>
            </a:r>
          </a:p>
          <a:p>
            <a:endParaRPr dirty="0"/>
          </a:p>
          <a:p>
            <a:r>
              <a:rPr dirty="0" err="1"/>
              <a:t>その結果、予測を全く使わない静的な引当量</a:t>
            </a:r>
            <a:r>
              <a:rPr dirty="0"/>
              <a:t>(</a:t>
            </a:r>
            <a:r>
              <a:rPr lang="en-US" dirty="0"/>
              <a:t>1</a:t>
            </a:r>
            <a:r>
              <a:rPr lang="ja-JP" altLang="en-US" dirty="0"/>
              <a:t>回決めた予測値をずっと予測値とする</a:t>
            </a:r>
            <a:r>
              <a:rPr dirty="0"/>
              <a:t>)と比べて15.7%のコスト削減、素朴な予測、</a:t>
            </a:r>
            <a:r>
              <a:rPr lang="ja-JP" altLang="en-US" dirty="0"/>
              <a:t>つまり昨日</a:t>
            </a:r>
            <a:r>
              <a:rPr dirty="0"/>
              <a:t>と同じ値を使うseasonal-naïveと比べても33.6%のコスト削減という結果が得られました。予測を活用することで、実際に運用コストを下げられる可能性があるということです。</a:t>
            </a:r>
            <a:endParaRPr lang="en-US" dirty="0"/>
          </a:p>
          <a:p>
            <a:endParaRPr lang="en-US" dirty="0"/>
          </a:p>
          <a:p>
            <a:endParaRPr lang="en-US" dirty="0"/>
          </a:p>
          <a:p>
            <a:r>
              <a:rPr lang="ja-JP" altLang="en-US" dirty="0"/>
              <a:t>すべてのジョブの</a:t>
            </a:r>
            <a:r>
              <a:rPr lang="en-US" altLang="ja-JP" dirty="0"/>
              <a:t>COST</a:t>
            </a:r>
            <a:r>
              <a:rPr lang="ja-JP" altLang="en-US" dirty="0"/>
              <a:t>を計算する </a:t>
            </a:r>
            <a:endParaRPr lang="en-US" altLang="ja-JP" dirty="0"/>
          </a:p>
          <a:p>
            <a:r>
              <a:rPr lang="ja-JP" altLang="en-US" dirty="0"/>
              <a:t>予測なしのコスト</a:t>
            </a:r>
            <a:r>
              <a:rPr lang="en-US" altLang="ja-JP" dirty="0"/>
              <a:t>-Chronos</a:t>
            </a:r>
            <a:r>
              <a:rPr lang="ja-JP" altLang="en-US" dirty="0"/>
              <a:t>のコスト</a:t>
            </a:r>
            <a:r>
              <a:rPr lang="en-US" altLang="ja-JP" dirty="0"/>
              <a:t>/</a:t>
            </a:r>
            <a:r>
              <a:rPr lang="ja-JP" altLang="en-US" dirty="0"/>
              <a:t>予測なしのコスト</a:t>
            </a:r>
            <a:r>
              <a:rPr lang="en-US" altLang="ja-JP" dirty="0"/>
              <a:t>=15.7</a:t>
            </a:r>
            <a:r>
              <a:rPr lang="ja-JP" altLang="en-US" dirty="0"/>
              <a:t>％</a:t>
            </a:r>
            <a:endParaRPr lang="en-US" altLang="ja-JP" dirty="0"/>
          </a:p>
          <a:p>
            <a:r>
              <a:rPr lang="ja-JP" altLang="en-US" dirty="0"/>
              <a:t>モデルごとに</a:t>
            </a:r>
            <a:r>
              <a:rPr lang="en-US" altLang="ja-JP" dirty="0"/>
              <a:t>C</a:t>
            </a:r>
            <a:r>
              <a:rPr lang="ja-JP" altLang="en-US" dirty="0"/>
              <a:t>しか変わらない</a:t>
            </a:r>
            <a:endParaRPr dirty="0"/>
          </a:p>
        </p:txBody>
      </p:sp>
      <p:sp>
        <p:nvSpPr>
          <p:cNvPr id="4" name="スライド番号プレースホルダー 3"/>
          <p:cNvSpPr>
            <a:spLocks noGrp="1"/>
          </p:cNvSpPr>
          <p:nvPr>
            <p:ph type="sldNum" sz="quarter" idx="5"/>
          </p:nvPr>
        </p:nvSpPr>
        <p:spPr/>
        <p:txBody>
          <a:bodyPr/>
          <a:lstStyle/>
          <a:p>
            <a:fld id="{A0B4B660-D79D-4C97-826E-A460D3BAD104}" type="slidenum">
              <a:rPr kumimoji="1" lang="ja-JP" altLang="en-US" smtClean="0"/>
              <a:t>15</a:t>
            </a:fld>
            <a:endParaRPr kumimoji="1" lang="ja-JP" altLang="en-US"/>
          </a:p>
        </p:txBody>
      </p:sp>
    </p:spTree>
    <p:extLst>
      <p:ext uri="{BB962C8B-B14F-4D97-AF65-F5344CB8AC3E}">
        <p14:creationId xmlns:p14="http://schemas.microsoft.com/office/powerpoint/2010/main" val="27896776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最後に、今回の内容をまとめます</a:t>
            </a:r>
            <a:r>
              <a:rPr dirty="0"/>
              <a:t>。</a:t>
            </a:r>
          </a:p>
          <a:p>
            <a:endParaRPr dirty="0"/>
          </a:p>
          <a:p>
            <a:r>
              <a:rPr lang="ja-JP" altLang="en-US" dirty="0"/>
              <a:t>まず、</a:t>
            </a:r>
            <a:r>
              <a:rPr dirty="0"/>
              <a:t>予測ホライズンで優劣が逆転するという点です。短期はChronos、中期はLightGBMが明確に優位であるため、一概にどちらが富岳の消費電力予測に適しているとは言えず、目的に合わせた使い分けが必要です。</a:t>
            </a:r>
          </a:p>
          <a:p>
            <a:endParaRPr dirty="0"/>
          </a:p>
          <a:p>
            <a:r>
              <a:rPr lang="ja-JP" altLang="en-US" dirty="0"/>
              <a:t>次に</a:t>
            </a:r>
            <a:r>
              <a:rPr dirty="0"/>
              <a:t>、急変に対する頑健性です。運用状況が急変すると、全モデルの誤差が悪化します。そして、covariateを与えればそれが緩和される</a:t>
            </a:r>
            <a:r>
              <a:rPr lang="ja-JP" altLang="en-US" dirty="0"/>
              <a:t>かもしれないと考えましたが、それは実現されませんでした。</a:t>
            </a:r>
            <a:endParaRPr dirty="0"/>
          </a:p>
          <a:p>
            <a:endParaRPr dirty="0"/>
          </a:p>
          <a:p>
            <a:r>
              <a:rPr lang="ja-JP" altLang="en-US" dirty="0"/>
              <a:t>最後に、</a:t>
            </a:r>
            <a:r>
              <a:rPr dirty="0"/>
              <a:t>実際に活用できるかという点です。動的な容量引当は、静的な方式に対して最大33.6%のコスト削減につながります。ただし、モデルとホライズンの組み合わせを誤ると、逆に悪化する可能性もある、という点には注意が必要です。</a:t>
            </a:r>
          </a:p>
          <a:p>
            <a:endParaRPr dirty="0"/>
          </a:p>
          <a:p>
            <a:r>
              <a:rPr dirty="0" err="1"/>
              <a:t>なお、ソースコードはこちらのGithubリンクから確認いただけます</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発展として取り組んだ内容です。</a:t>
            </a:r>
            <a:endParaRPr dirty="0"/>
          </a:p>
          <a:p>
            <a:endParaRPr dirty="0"/>
          </a:p>
          <a:p>
            <a:r>
              <a:rPr dirty="0"/>
              <a:t>先ほど見た、予測ホライズンによってモデルの優劣が逆転するという現象が、消費電力に固有の結果なのかを確認するため、同じ設計で今度は稼働ノード数も予測対象にして検証しました。こちらはChronosとLightGBMのみを使った簡易版として実装しています。</a:t>
            </a:r>
          </a:p>
          <a:p>
            <a:endParaRPr dirty="0"/>
          </a:p>
          <a:p>
            <a:r>
              <a:rPr dirty="0"/>
              <a:t>なぜノード数を選んだかというと、稼働ノード数と消費電力は相関はあるものの、測定対象としては全く別物だからです。もしノード数でも同じ傾向が見られれば、それは電力固有の測定ノイズやスケールの問題ではなく、短期・中期でそれぞれ得意なアーキテクチャが違うという、より本質的な構造を検証できることになります。</a:t>
            </a:r>
          </a:p>
        </p:txBody>
      </p:sp>
      <p:sp>
        <p:nvSpPr>
          <p:cNvPr id="4" name="スライド番号プレースホルダー 3"/>
          <p:cNvSpPr>
            <a:spLocks noGrp="1"/>
          </p:cNvSpPr>
          <p:nvPr>
            <p:ph type="sldNum" sz="quarter" idx="5"/>
          </p:nvPr>
        </p:nvSpPr>
        <p:spPr/>
        <p:txBody>
          <a:bodyPr/>
          <a:lstStyle/>
          <a:p>
            <a:fld id="{A0B4B660-D79D-4C97-826E-A460D3BAD104}" type="slidenum">
              <a:rPr kumimoji="1" lang="ja-JP" altLang="en-US" smtClean="0"/>
              <a:t>17</a:t>
            </a:fld>
            <a:endParaRPr kumimoji="1" lang="ja-JP" altLang="en-US"/>
          </a:p>
        </p:txBody>
      </p:sp>
    </p:spTree>
    <p:extLst>
      <p:ext uri="{BB962C8B-B14F-4D97-AF65-F5344CB8AC3E}">
        <p14:creationId xmlns:p14="http://schemas.microsoft.com/office/powerpoint/2010/main" val="25597620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こちらが、ノード数を対象にした検証結果です</a:t>
            </a:r>
            <a:r>
              <a:rPr dirty="0"/>
              <a:t>。</a:t>
            </a:r>
          </a:p>
          <a:p>
            <a:endParaRPr dirty="0"/>
          </a:p>
          <a:p>
            <a:r>
              <a:rPr dirty="0"/>
              <a:t>表の通り、電力と同様に、ノード数でも短期安定期・短期遷移期ではChronosが、中期安定期・中期遷移期ではLightGBMが良い値を示しており、短期はChronos、中期はLightGBMという構造がノード数でも同じ形で再現されています。</a:t>
            </a:r>
          </a:p>
          <a:p>
            <a:endParaRPr dirty="0"/>
          </a:p>
          <a:p>
            <a:r>
              <a:rPr dirty="0"/>
              <a:t>このことから、この優劣のパターンは消費電力というデータ固有のものではなく、モデルアーキテクチャそのものに根ざしたパターンであることがわかります。今後、他の運用指標にも同じ考え方を応用できる可能性があります。</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0B4B660-D79D-4C97-826E-A460D3BAD104}" type="slidenum">
              <a:rPr kumimoji="1" lang="ja-JP" altLang="en-US" smtClean="0"/>
              <a:t>19</a:t>
            </a:fld>
            <a:endParaRPr kumimoji="1" lang="ja-JP" altLang="en-US"/>
          </a:p>
        </p:txBody>
      </p:sp>
    </p:spTree>
    <p:extLst>
      <p:ext uri="{BB962C8B-B14F-4D97-AF65-F5344CB8AC3E}">
        <p14:creationId xmlns:p14="http://schemas.microsoft.com/office/powerpoint/2010/main" val="34624266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96503B-B9FA-2D34-9395-485791854E96}"/>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E3145C5-062F-575A-9B03-AD5781A273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4B4E217B-3351-1572-53ED-FDF50824434D}"/>
              </a:ext>
            </a:extLst>
          </p:cNvPr>
          <p:cNvSpPr>
            <a:spLocks noGrp="1"/>
          </p:cNvSpPr>
          <p:nvPr>
            <p:ph type="dt" sz="half" idx="10"/>
          </p:nvPr>
        </p:nvSpPr>
        <p:spPr/>
        <p:txBody>
          <a:bodyPr/>
          <a:lstStyle/>
          <a:p>
            <a:fld id="{9069059E-D8DB-41C0-A40B-91B8393B8811}" type="datetime1">
              <a:rPr kumimoji="1" lang="ja-JP" altLang="en-US" smtClean="0"/>
              <a:t>2026/8/27</a:t>
            </a:fld>
            <a:endParaRPr kumimoji="1" lang="ja-JP" altLang="en-US"/>
          </a:p>
        </p:txBody>
      </p:sp>
      <p:sp>
        <p:nvSpPr>
          <p:cNvPr id="5" name="フッター プレースホルダー 4">
            <a:extLst>
              <a:ext uri="{FF2B5EF4-FFF2-40B4-BE49-F238E27FC236}">
                <a16:creationId xmlns:a16="http://schemas.microsoft.com/office/drawing/2014/main" id="{34BDF806-F96A-ACF8-14C1-C4A29E38818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5E8F2A4-7A87-4F61-6967-6EC15DF614ED}"/>
              </a:ext>
            </a:extLst>
          </p:cNvPr>
          <p:cNvSpPr>
            <a:spLocks noGrp="1"/>
          </p:cNvSpPr>
          <p:nvPr>
            <p:ph type="sldNum" sz="quarter" idx="12"/>
          </p:nvPr>
        </p:nvSpPr>
        <p:spPr/>
        <p:txBody>
          <a:bodyPr/>
          <a:lstStyle/>
          <a:p>
            <a:fld id="{C636472C-77F3-4730-9E58-470BC344D402}" type="slidenum">
              <a:rPr kumimoji="1" lang="ja-JP" altLang="en-US" smtClean="0"/>
              <a:t>‹#›</a:t>
            </a:fld>
            <a:endParaRPr kumimoji="1" lang="ja-JP" altLang="en-US"/>
          </a:p>
        </p:txBody>
      </p:sp>
    </p:spTree>
    <p:extLst>
      <p:ext uri="{BB962C8B-B14F-4D97-AF65-F5344CB8AC3E}">
        <p14:creationId xmlns:p14="http://schemas.microsoft.com/office/powerpoint/2010/main" val="26929475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F7F2D0-3E1B-BA14-2483-EB00DD9E851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05C4255-B3EB-EE0E-9EC6-C299018B2A3D}"/>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DDBF735-0B27-D271-F5FD-F6DC52733320}"/>
              </a:ext>
            </a:extLst>
          </p:cNvPr>
          <p:cNvSpPr>
            <a:spLocks noGrp="1"/>
          </p:cNvSpPr>
          <p:nvPr>
            <p:ph type="dt" sz="half" idx="10"/>
          </p:nvPr>
        </p:nvSpPr>
        <p:spPr/>
        <p:txBody>
          <a:bodyPr/>
          <a:lstStyle/>
          <a:p>
            <a:fld id="{31A87E31-F50E-471C-B7EC-AC265416664E}" type="datetime1">
              <a:rPr kumimoji="1" lang="ja-JP" altLang="en-US" smtClean="0"/>
              <a:t>2026/8/27</a:t>
            </a:fld>
            <a:endParaRPr kumimoji="1" lang="ja-JP" altLang="en-US"/>
          </a:p>
        </p:txBody>
      </p:sp>
      <p:sp>
        <p:nvSpPr>
          <p:cNvPr id="5" name="フッター プレースホルダー 4">
            <a:extLst>
              <a:ext uri="{FF2B5EF4-FFF2-40B4-BE49-F238E27FC236}">
                <a16:creationId xmlns:a16="http://schemas.microsoft.com/office/drawing/2014/main" id="{7110BC68-C965-46D6-2BDE-EB1A2D996FB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34CE179-DBD8-ED49-155D-9B9298428512}"/>
              </a:ext>
            </a:extLst>
          </p:cNvPr>
          <p:cNvSpPr>
            <a:spLocks noGrp="1"/>
          </p:cNvSpPr>
          <p:nvPr>
            <p:ph type="sldNum" sz="quarter" idx="12"/>
          </p:nvPr>
        </p:nvSpPr>
        <p:spPr/>
        <p:txBody>
          <a:bodyPr/>
          <a:lstStyle/>
          <a:p>
            <a:fld id="{C636472C-77F3-4730-9E58-470BC344D402}" type="slidenum">
              <a:rPr kumimoji="1" lang="ja-JP" altLang="en-US" smtClean="0"/>
              <a:t>‹#›</a:t>
            </a:fld>
            <a:endParaRPr kumimoji="1" lang="ja-JP" altLang="en-US"/>
          </a:p>
        </p:txBody>
      </p:sp>
    </p:spTree>
    <p:extLst>
      <p:ext uri="{BB962C8B-B14F-4D97-AF65-F5344CB8AC3E}">
        <p14:creationId xmlns:p14="http://schemas.microsoft.com/office/powerpoint/2010/main" val="1472620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23807B7-997D-8171-A312-340FA847FF77}"/>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2BBCE83-5FAF-7205-D57F-2555027F018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B159F96F-EED1-DAE1-A0FC-309ADBCFBF85}"/>
              </a:ext>
            </a:extLst>
          </p:cNvPr>
          <p:cNvSpPr>
            <a:spLocks noGrp="1"/>
          </p:cNvSpPr>
          <p:nvPr>
            <p:ph type="dt" sz="half" idx="10"/>
          </p:nvPr>
        </p:nvSpPr>
        <p:spPr/>
        <p:txBody>
          <a:bodyPr/>
          <a:lstStyle/>
          <a:p>
            <a:fld id="{05499813-13CB-4A29-8AA7-2E141FFF79F5}" type="datetime1">
              <a:rPr kumimoji="1" lang="ja-JP" altLang="en-US" smtClean="0"/>
              <a:t>2026/8/27</a:t>
            </a:fld>
            <a:endParaRPr kumimoji="1" lang="ja-JP" altLang="en-US"/>
          </a:p>
        </p:txBody>
      </p:sp>
      <p:sp>
        <p:nvSpPr>
          <p:cNvPr id="5" name="フッター プレースホルダー 4">
            <a:extLst>
              <a:ext uri="{FF2B5EF4-FFF2-40B4-BE49-F238E27FC236}">
                <a16:creationId xmlns:a16="http://schemas.microsoft.com/office/drawing/2014/main" id="{F0F300F6-EB81-8E4A-07BB-605AE9CEE5C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2B75CBE-E308-A55C-B7AE-0163FC4A1618}"/>
              </a:ext>
            </a:extLst>
          </p:cNvPr>
          <p:cNvSpPr>
            <a:spLocks noGrp="1"/>
          </p:cNvSpPr>
          <p:nvPr>
            <p:ph type="sldNum" sz="quarter" idx="12"/>
          </p:nvPr>
        </p:nvSpPr>
        <p:spPr/>
        <p:txBody>
          <a:bodyPr/>
          <a:lstStyle/>
          <a:p>
            <a:fld id="{C636472C-77F3-4730-9E58-470BC344D402}" type="slidenum">
              <a:rPr kumimoji="1" lang="ja-JP" altLang="en-US" smtClean="0"/>
              <a:t>‹#›</a:t>
            </a:fld>
            <a:endParaRPr kumimoji="1" lang="ja-JP" altLang="en-US"/>
          </a:p>
        </p:txBody>
      </p:sp>
    </p:spTree>
    <p:extLst>
      <p:ext uri="{BB962C8B-B14F-4D97-AF65-F5344CB8AC3E}">
        <p14:creationId xmlns:p14="http://schemas.microsoft.com/office/powerpoint/2010/main" val="32326597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B117D2A-EC7C-EBAC-8B4D-63E5CABD4F1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856E4F2-E9BE-FBC6-93FC-4E589C29334A}"/>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4C9D006D-9A6B-EA63-595B-9FFC730E4B5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52267AB3-E404-ADB2-FBD1-FD1BB7E787AE}"/>
              </a:ext>
            </a:extLst>
          </p:cNvPr>
          <p:cNvSpPr>
            <a:spLocks noGrp="1"/>
          </p:cNvSpPr>
          <p:nvPr>
            <p:ph type="dt" sz="half" idx="10"/>
          </p:nvPr>
        </p:nvSpPr>
        <p:spPr/>
        <p:txBody>
          <a:bodyPr/>
          <a:lstStyle/>
          <a:p>
            <a:fld id="{13BB0FC1-A406-4D92-B6E0-707A2A55D511}" type="datetime1">
              <a:rPr kumimoji="1" lang="ja-JP" altLang="en-US" smtClean="0"/>
              <a:t>2026/8/27</a:t>
            </a:fld>
            <a:endParaRPr kumimoji="1" lang="ja-JP" altLang="en-US"/>
          </a:p>
        </p:txBody>
      </p:sp>
      <p:sp>
        <p:nvSpPr>
          <p:cNvPr id="6" name="フッター プレースホルダー 5">
            <a:extLst>
              <a:ext uri="{FF2B5EF4-FFF2-40B4-BE49-F238E27FC236}">
                <a16:creationId xmlns:a16="http://schemas.microsoft.com/office/drawing/2014/main" id="{59538E7B-AE39-51D0-5BB0-1188B1790AE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2F7911A-47E3-D58A-4506-3DBA6BDA4B1D}"/>
              </a:ext>
            </a:extLst>
          </p:cNvPr>
          <p:cNvSpPr>
            <a:spLocks noGrp="1"/>
          </p:cNvSpPr>
          <p:nvPr>
            <p:ph type="sldNum" sz="quarter" idx="12"/>
          </p:nvPr>
        </p:nvSpPr>
        <p:spPr/>
        <p:txBody>
          <a:bodyPr/>
          <a:lstStyle/>
          <a:p>
            <a:fld id="{C636472C-77F3-4730-9E58-470BC344D402}" type="slidenum">
              <a:rPr kumimoji="1" lang="ja-JP" altLang="en-US" smtClean="0"/>
              <a:t>‹#›</a:t>
            </a:fld>
            <a:endParaRPr kumimoji="1" lang="ja-JP" altLang="en-US"/>
          </a:p>
        </p:txBody>
      </p:sp>
    </p:spTree>
    <p:extLst>
      <p:ext uri="{BB962C8B-B14F-4D97-AF65-F5344CB8AC3E}">
        <p14:creationId xmlns:p14="http://schemas.microsoft.com/office/powerpoint/2010/main" val="2409737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705549-30C0-5220-C067-9FD45B24A1B3}"/>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DF1214F-377C-ACC1-CC11-91C39336F3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169523F4-858B-D2BE-1639-63F03C90F73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03931E2-18C6-AD1E-4BCB-E826F7BDB6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5A831EDD-804D-1F98-A56D-1B4BF6BC5697}"/>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B31B9E90-AA0E-F72E-F545-94B8B958D649}"/>
              </a:ext>
            </a:extLst>
          </p:cNvPr>
          <p:cNvSpPr>
            <a:spLocks noGrp="1"/>
          </p:cNvSpPr>
          <p:nvPr>
            <p:ph type="dt" sz="half" idx="10"/>
          </p:nvPr>
        </p:nvSpPr>
        <p:spPr/>
        <p:txBody>
          <a:bodyPr/>
          <a:lstStyle/>
          <a:p>
            <a:fld id="{8098E8AF-47F0-4F50-8E52-93652B4525A9}" type="datetime1">
              <a:rPr kumimoji="1" lang="ja-JP" altLang="en-US" smtClean="0"/>
              <a:t>2026/8/27</a:t>
            </a:fld>
            <a:endParaRPr kumimoji="1" lang="ja-JP" altLang="en-US"/>
          </a:p>
        </p:txBody>
      </p:sp>
      <p:sp>
        <p:nvSpPr>
          <p:cNvPr id="8" name="フッター プレースホルダー 7">
            <a:extLst>
              <a:ext uri="{FF2B5EF4-FFF2-40B4-BE49-F238E27FC236}">
                <a16:creationId xmlns:a16="http://schemas.microsoft.com/office/drawing/2014/main" id="{8542E899-1525-C76E-504E-5EE2F759700B}"/>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565F1E73-7140-6650-C3C8-820FE6CF98E9}"/>
              </a:ext>
            </a:extLst>
          </p:cNvPr>
          <p:cNvSpPr>
            <a:spLocks noGrp="1"/>
          </p:cNvSpPr>
          <p:nvPr>
            <p:ph type="sldNum" sz="quarter" idx="12"/>
          </p:nvPr>
        </p:nvSpPr>
        <p:spPr/>
        <p:txBody>
          <a:bodyPr/>
          <a:lstStyle>
            <a:lvl1pPr>
              <a:defRPr sz="2000"/>
            </a:lvl1pPr>
          </a:lstStyle>
          <a:p>
            <a:fld id="{C636472C-77F3-4730-9E58-470BC344D402}" type="slidenum">
              <a:rPr lang="ja-JP" altLang="en-US" smtClean="0"/>
              <a:pPr/>
              <a:t>‹#›</a:t>
            </a:fld>
            <a:endParaRPr lang="ja-JP" altLang="en-US" sz="2000" dirty="0"/>
          </a:p>
        </p:txBody>
      </p:sp>
    </p:spTree>
    <p:extLst>
      <p:ext uri="{BB962C8B-B14F-4D97-AF65-F5344CB8AC3E}">
        <p14:creationId xmlns:p14="http://schemas.microsoft.com/office/powerpoint/2010/main" val="2944206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597367-51D7-16E3-D01E-44E5F9EE84AA}"/>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222F2A14-258A-634D-F3C6-D163A001CA2C}"/>
              </a:ext>
            </a:extLst>
          </p:cNvPr>
          <p:cNvSpPr>
            <a:spLocks noGrp="1"/>
          </p:cNvSpPr>
          <p:nvPr>
            <p:ph type="dt" sz="half" idx="10"/>
          </p:nvPr>
        </p:nvSpPr>
        <p:spPr/>
        <p:txBody>
          <a:bodyPr/>
          <a:lstStyle/>
          <a:p>
            <a:fld id="{F2393F57-F2BC-42E8-87B1-68B1B5371B27}" type="datetime1">
              <a:rPr kumimoji="1" lang="ja-JP" altLang="en-US" smtClean="0"/>
              <a:t>2026/8/27</a:t>
            </a:fld>
            <a:endParaRPr kumimoji="1" lang="ja-JP" altLang="en-US"/>
          </a:p>
        </p:txBody>
      </p:sp>
      <p:sp>
        <p:nvSpPr>
          <p:cNvPr id="4" name="フッター プレースホルダー 3">
            <a:extLst>
              <a:ext uri="{FF2B5EF4-FFF2-40B4-BE49-F238E27FC236}">
                <a16:creationId xmlns:a16="http://schemas.microsoft.com/office/drawing/2014/main" id="{2292ADBD-3B54-9AAF-92E1-C07926408DED}"/>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FFF5939-E06C-61BB-545C-01AF9071C78C}"/>
              </a:ext>
            </a:extLst>
          </p:cNvPr>
          <p:cNvSpPr>
            <a:spLocks noGrp="1"/>
          </p:cNvSpPr>
          <p:nvPr>
            <p:ph type="sldNum" sz="quarter" idx="12"/>
          </p:nvPr>
        </p:nvSpPr>
        <p:spPr/>
        <p:txBody>
          <a:bodyPr/>
          <a:lstStyle/>
          <a:p>
            <a:fld id="{C636472C-77F3-4730-9E58-470BC344D402}" type="slidenum">
              <a:rPr kumimoji="1" lang="ja-JP" altLang="en-US" smtClean="0"/>
              <a:t>‹#›</a:t>
            </a:fld>
            <a:endParaRPr kumimoji="1" lang="ja-JP" altLang="en-US"/>
          </a:p>
        </p:txBody>
      </p:sp>
    </p:spTree>
    <p:extLst>
      <p:ext uri="{BB962C8B-B14F-4D97-AF65-F5344CB8AC3E}">
        <p14:creationId xmlns:p14="http://schemas.microsoft.com/office/powerpoint/2010/main" val="3224418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2383228B-4814-8B23-191B-388F9B94D609}"/>
              </a:ext>
            </a:extLst>
          </p:cNvPr>
          <p:cNvSpPr>
            <a:spLocks noGrp="1"/>
          </p:cNvSpPr>
          <p:nvPr>
            <p:ph type="dt" sz="half" idx="10"/>
          </p:nvPr>
        </p:nvSpPr>
        <p:spPr/>
        <p:txBody>
          <a:bodyPr/>
          <a:lstStyle/>
          <a:p>
            <a:fld id="{D34ABB11-F36A-40A7-81D9-4BEC052132F9}" type="datetime1">
              <a:rPr kumimoji="1" lang="ja-JP" altLang="en-US" smtClean="0"/>
              <a:t>2026/8/27</a:t>
            </a:fld>
            <a:endParaRPr kumimoji="1" lang="ja-JP" altLang="en-US"/>
          </a:p>
        </p:txBody>
      </p:sp>
      <p:sp>
        <p:nvSpPr>
          <p:cNvPr id="3" name="フッター プレースホルダー 2">
            <a:extLst>
              <a:ext uri="{FF2B5EF4-FFF2-40B4-BE49-F238E27FC236}">
                <a16:creationId xmlns:a16="http://schemas.microsoft.com/office/drawing/2014/main" id="{B7FA7E3E-CF40-D303-AB05-20C9213E888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DD73F09-D244-818D-1A51-A4C5356C9DDC}"/>
              </a:ext>
            </a:extLst>
          </p:cNvPr>
          <p:cNvSpPr>
            <a:spLocks noGrp="1"/>
          </p:cNvSpPr>
          <p:nvPr>
            <p:ph type="sldNum" sz="quarter" idx="12"/>
          </p:nvPr>
        </p:nvSpPr>
        <p:spPr/>
        <p:txBody>
          <a:bodyPr/>
          <a:lstStyle/>
          <a:p>
            <a:fld id="{C636472C-77F3-4730-9E58-470BC344D402}" type="slidenum">
              <a:rPr kumimoji="1" lang="ja-JP" altLang="en-US" smtClean="0"/>
              <a:t>‹#›</a:t>
            </a:fld>
            <a:endParaRPr kumimoji="1" lang="ja-JP" altLang="en-US"/>
          </a:p>
        </p:txBody>
      </p:sp>
    </p:spTree>
    <p:extLst>
      <p:ext uri="{BB962C8B-B14F-4D97-AF65-F5344CB8AC3E}">
        <p14:creationId xmlns:p14="http://schemas.microsoft.com/office/powerpoint/2010/main" val="33223690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9DF7C0-BC93-3D11-4B71-1D8A4CE18E1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56259B1-3C83-3308-2994-018A13F9F9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D686E0ED-2232-E052-0859-96183C112E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9AB7C88-53F3-F451-FAA6-8FC98110AFC1}"/>
              </a:ext>
            </a:extLst>
          </p:cNvPr>
          <p:cNvSpPr>
            <a:spLocks noGrp="1"/>
          </p:cNvSpPr>
          <p:nvPr>
            <p:ph type="dt" sz="half" idx="10"/>
          </p:nvPr>
        </p:nvSpPr>
        <p:spPr/>
        <p:txBody>
          <a:bodyPr/>
          <a:lstStyle/>
          <a:p>
            <a:fld id="{40633DF1-0166-436A-A0E3-680C8EAE049E}" type="datetime1">
              <a:rPr kumimoji="1" lang="ja-JP" altLang="en-US" smtClean="0"/>
              <a:t>2026/8/27</a:t>
            </a:fld>
            <a:endParaRPr kumimoji="1" lang="ja-JP" altLang="en-US"/>
          </a:p>
        </p:txBody>
      </p:sp>
      <p:sp>
        <p:nvSpPr>
          <p:cNvPr id="6" name="フッター プレースホルダー 5">
            <a:extLst>
              <a:ext uri="{FF2B5EF4-FFF2-40B4-BE49-F238E27FC236}">
                <a16:creationId xmlns:a16="http://schemas.microsoft.com/office/drawing/2014/main" id="{CDE81144-9F00-F948-E545-B7088E551DC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775356B-B32E-49A0-BE0D-9A2783D80851}"/>
              </a:ext>
            </a:extLst>
          </p:cNvPr>
          <p:cNvSpPr>
            <a:spLocks noGrp="1"/>
          </p:cNvSpPr>
          <p:nvPr>
            <p:ph type="sldNum" sz="quarter" idx="12"/>
          </p:nvPr>
        </p:nvSpPr>
        <p:spPr/>
        <p:txBody>
          <a:bodyPr/>
          <a:lstStyle/>
          <a:p>
            <a:fld id="{C636472C-77F3-4730-9E58-470BC344D402}" type="slidenum">
              <a:rPr kumimoji="1" lang="ja-JP" altLang="en-US" smtClean="0"/>
              <a:t>‹#›</a:t>
            </a:fld>
            <a:endParaRPr kumimoji="1" lang="ja-JP" altLang="en-US"/>
          </a:p>
        </p:txBody>
      </p:sp>
    </p:spTree>
    <p:extLst>
      <p:ext uri="{BB962C8B-B14F-4D97-AF65-F5344CB8AC3E}">
        <p14:creationId xmlns:p14="http://schemas.microsoft.com/office/powerpoint/2010/main" val="1408993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8CE04E-1457-1180-F707-9487B846676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E59C300F-FDE9-EDBF-7D59-79704AE5F0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EE2E30D5-6A62-70C7-03E4-50EFDBA181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43ACF38-0F79-DA6C-C14E-4F767AE85D6E}"/>
              </a:ext>
            </a:extLst>
          </p:cNvPr>
          <p:cNvSpPr>
            <a:spLocks noGrp="1"/>
          </p:cNvSpPr>
          <p:nvPr>
            <p:ph type="dt" sz="half" idx="10"/>
          </p:nvPr>
        </p:nvSpPr>
        <p:spPr/>
        <p:txBody>
          <a:bodyPr/>
          <a:lstStyle/>
          <a:p>
            <a:fld id="{5A333970-2293-4CCF-BD12-18AB56D6BBA9}" type="datetime1">
              <a:rPr kumimoji="1" lang="ja-JP" altLang="en-US" smtClean="0"/>
              <a:t>2026/8/27</a:t>
            </a:fld>
            <a:endParaRPr kumimoji="1" lang="ja-JP" altLang="en-US"/>
          </a:p>
        </p:txBody>
      </p:sp>
      <p:sp>
        <p:nvSpPr>
          <p:cNvPr id="6" name="フッター プレースホルダー 5">
            <a:extLst>
              <a:ext uri="{FF2B5EF4-FFF2-40B4-BE49-F238E27FC236}">
                <a16:creationId xmlns:a16="http://schemas.microsoft.com/office/drawing/2014/main" id="{53FA75F9-6DE6-E36E-4BEE-24F916D5C08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EA32D08-D7D3-074B-1288-3A418DCC88E3}"/>
              </a:ext>
            </a:extLst>
          </p:cNvPr>
          <p:cNvSpPr>
            <a:spLocks noGrp="1"/>
          </p:cNvSpPr>
          <p:nvPr>
            <p:ph type="sldNum" sz="quarter" idx="12"/>
          </p:nvPr>
        </p:nvSpPr>
        <p:spPr/>
        <p:txBody>
          <a:bodyPr/>
          <a:lstStyle/>
          <a:p>
            <a:fld id="{C636472C-77F3-4730-9E58-470BC344D402}" type="slidenum">
              <a:rPr kumimoji="1" lang="ja-JP" altLang="en-US" smtClean="0"/>
              <a:t>‹#›</a:t>
            </a:fld>
            <a:endParaRPr kumimoji="1" lang="ja-JP" altLang="en-US"/>
          </a:p>
        </p:txBody>
      </p:sp>
    </p:spTree>
    <p:extLst>
      <p:ext uri="{BB962C8B-B14F-4D97-AF65-F5344CB8AC3E}">
        <p14:creationId xmlns:p14="http://schemas.microsoft.com/office/powerpoint/2010/main" val="3893912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1823A4-5371-AF76-1707-08A6DED7C5DE}"/>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363D5A9-36BA-4CD5-1F44-D2DE85B9D0C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0DB1438-435B-6220-EC3D-6E348E11FD9E}"/>
              </a:ext>
            </a:extLst>
          </p:cNvPr>
          <p:cNvSpPr>
            <a:spLocks noGrp="1"/>
          </p:cNvSpPr>
          <p:nvPr>
            <p:ph type="dt" sz="half" idx="10"/>
          </p:nvPr>
        </p:nvSpPr>
        <p:spPr/>
        <p:txBody>
          <a:bodyPr/>
          <a:lstStyle/>
          <a:p>
            <a:fld id="{0F7842F8-B440-49CE-936D-13A102056B18}" type="datetime1">
              <a:rPr kumimoji="1" lang="ja-JP" altLang="en-US" smtClean="0"/>
              <a:t>2026/8/27</a:t>
            </a:fld>
            <a:endParaRPr kumimoji="1" lang="ja-JP" altLang="en-US"/>
          </a:p>
        </p:txBody>
      </p:sp>
      <p:sp>
        <p:nvSpPr>
          <p:cNvPr id="5" name="フッター プレースホルダー 4">
            <a:extLst>
              <a:ext uri="{FF2B5EF4-FFF2-40B4-BE49-F238E27FC236}">
                <a16:creationId xmlns:a16="http://schemas.microsoft.com/office/drawing/2014/main" id="{662F660A-488D-5473-5159-2E7A60E2CA5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98CBB7F-44E6-5279-8DAE-5F730D22AE17}"/>
              </a:ext>
            </a:extLst>
          </p:cNvPr>
          <p:cNvSpPr>
            <a:spLocks noGrp="1"/>
          </p:cNvSpPr>
          <p:nvPr>
            <p:ph type="sldNum" sz="quarter" idx="12"/>
          </p:nvPr>
        </p:nvSpPr>
        <p:spPr/>
        <p:txBody>
          <a:bodyPr/>
          <a:lstStyle/>
          <a:p>
            <a:fld id="{C636472C-77F3-4730-9E58-470BC344D402}" type="slidenum">
              <a:rPr kumimoji="1" lang="ja-JP" altLang="en-US" smtClean="0"/>
              <a:t>‹#›</a:t>
            </a:fld>
            <a:endParaRPr kumimoji="1" lang="ja-JP" altLang="en-US"/>
          </a:p>
        </p:txBody>
      </p:sp>
    </p:spTree>
    <p:extLst>
      <p:ext uri="{BB962C8B-B14F-4D97-AF65-F5344CB8AC3E}">
        <p14:creationId xmlns:p14="http://schemas.microsoft.com/office/powerpoint/2010/main" val="4225019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867EB5C6-AD61-9B4F-E369-BD8451CC2CF9}"/>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21E985B-F59B-65D2-BBBC-E9571CA91E33}"/>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BCA8442-973A-7DD5-7D0B-07A4D32E315B}"/>
              </a:ext>
            </a:extLst>
          </p:cNvPr>
          <p:cNvSpPr>
            <a:spLocks noGrp="1"/>
          </p:cNvSpPr>
          <p:nvPr>
            <p:ph type="dt" sz="half" idx="10"/>
          </p:nvPr>
        </p:nvSpPr>
        <p:spPr/>
        <p:txBody>
          <a:bodyPr/>
          <a:lstStyle/>
          <a:p>
            <a:fld id="{3ED3C6F8-3923-4ADF-930A-AC30052A6D55}" type="datetime1">
              <a:rPr kumimoji="1" lang="ja-JP" altLang="en-US" smtClean="0"/>
              <a:t>2026/8/27</a:t>
            </a:fld>
            <a:endParaRPr kumimoji="1" lang="ja-JP" altLang="en-US"/>
          </a:p>
        </p:txBody>
      </p:sp>
      <p:sp>
        <p:nvSpPr>
          <p:cNvPr id="5" name="フッター プレースホルダー 4">
            <a:extLst>
              <a:ext uri="{FF2B5EF4-FFF2-40B4-BE49-F238E27FC236}">
                <a16:creationId xmlns:a16="http://schemas.microsoft.com/office/drawing/2014/main" id="{EBC29614-652C-4735-90D6-94EA922BF0C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490667F-0FAA-44C6-EBA9-699285DE3D34}"/>
              </a:ext>
            </a:extLst>
          </p:cNvPr>
          <p:cNvSpPr>
            <a:spLocks noGrp="1"/>
          </p:cNvSpPr>
          <p:nvPr>
            <p:ph type="sldNum" sz="quarter" idx="12"/>
          </p:nvPr>
        </p:nvSpPr>
        <p:spPr/>
        <p:txBody>
          <a:bodyPr/>
          <a:lstStyle/>
          <a:p>
            <a:fld id="{C636472C-77F3-4730-9E58-470BC344D402}" type="slidenum">
              <a:rPr kumimoji="1" lang="ja-JP" altLang="en-US" smtClean="0"/>
              <a:t>‹#›</a:t>
            </a:fld>
            <a:endParaRPr kumimoji="1" lang="ja-JP" altLang="en-US"/>
          </a:p>
        </p:txBody>
      </p:sp>
    </p:spTree>
    <p:extLst>
      <p:ext uri="{BB962C8B-B14F-4D97-AF65-F5344CB8AC3E}">
        <p14:creationId xmlns:p14="http://schemas.microsoft.com/office/powerpoint/2010/main" val="10204226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38805A54-BE24-CA29-3B43-5A24134B05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40C1A05-FABC-7A99-B573-D9633EB341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634C0D4-6FC5-2611-52CF-486EDBCBF3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179556D-669A-49FC-94E2-8E25FA3CDBEF}" type="datetime1">
              <a:rPr kumimoji="1" lang="ja-JP" altLang="en-US" smtClean="0"/>
              <a:t>2026/8/27</a:t>
            </a:fld>
            <a:endParaRPr kumimoji="1" lang="ja-JP" altLang="en-US"/>
          </a:p>
        </p:txBody>
      </p:sp>
      <p:sp>
        <p:nvSpPr>
          <p:cNvPr id="5" name="フッター プレースホルダー 4">
            <a:extLst>
              <a:ext uri="{FF2B5EF4-FFF2-40B4-BE49-F238E27FC236}">
                <a16:creationId xmlns:a16="http://schemas.microsoft.com/office/drawing/2014/main" id="{1C511F2C-4E50-AF10-E704-99FCD0D5E2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2589D5E-DA12-7AD4-D07C-5DD5464D6B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636472C-77F3-4730-9E58-470BC344D402}" type="slidenum">
              <a:rPr kumimoji="1" lang="ja-JP" altLang="en-US" smtClean="0"/>
              <a:t>‹#›</a:t>
            </a:fld>
            <a:endParaRPr kumimoji="1" lang="ja-JP" altLang="en-US"/>
          </a:p>
        </p:txBody>
      </p:sp>
    </p:spTree>
    <p:extLst>
      <p:ext uri="{BB962C8B-B14F-4D97-AF65-F5344CB8AC3E}">
        <p14:creationId xmlns:p14="http://schemas.microsoft.com/office/powerpoint/2010/main" val="15958895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0.xml"/><Relationship Id="rId5" Type="http://schemas.openxmlformats.org/officeDocument/2006/relationships/image" Target="../media/image4.pn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6C71994-29B1-8FA9-3066-82CBFC26BEB8}"/>
              </a:ext>
            </a:extLst>
          </p:cNvPr>
          <p:cNvSpPr>
            <a:spLocks noGrp="1"/>
          </p:cNvSpPr>
          <p:nvPr>
            <p:ph type="title"/>
          </p:nvPr>
        </p:nvSpPr>
        <p:spPr>
          <a:xfrm>
            <a:off x="475488" y="2122487"/>
            <a:ext cx="11265408" cy="1325563"/>
          </a:xfrm>
        </p:spPr>
        <p:txBody>
          <a:bodyPr>
            <a:noAutofit/>
          </a:bodyPr>
          <a:lstStyle/>
          <a:p>
            <a:r>
              <a:rPr lang="ja-JP" altLang="en-US" sz="5400" b="1" dirty="0">
                <a:latin typeface="BIZ UDPゴシック" panose="020B0400000000000000" pitchFamily="50" charset="-128"/>
                <a:ea typeface="BIZ UDPゴシック" panose="020B0400000000000000" pitchFamily="50" charset="-128"/>
              </a:rPr>
              <a:t>富岳の消費電力予測における</a:t>
            </a:r>
            <a:br>
              <a:rPr lang="en-US" altLang="ja-JP" sz="5400" b="1" dirty="0">
                <a:latin typeface="BIZ UDPゴシック" panose="020B0400000000000000" pitchFamily="50" charset="-128"/>
                <a:ea typeface="BIZ UDPゴシック" panose="020B0400000000000000" pitchFamily="50" charset="-128"/>
              </a:rPr>
            </a:br>
            <a:r>
              <a:rPr lang="ja-JP" altLang="en-US" sz="5400" b="1" dirty="0">
                <a:latin typeface="BIZ UDPゴシック" panose="020B0400000000000000" pitchFamily="50" charset="-128"/>
                <a:ea typeface="BIZ UDPゴシック" panose="020B0400000000000000" pitchFamily="50" charset="-128"/>
              </a:rPr>
              <a:t>時系列基盤モデルと機械学習の比較</a:t>
            </a:r>
            <a:endParaRPr kumimoji="1" lang="ja-JP" altLang="en-US" sz="5400" b="1" dirty="0">
              <a:latin typeface="BIZ UDPゴシック" panose="020B0400000000000000" pitchFamily="50" charset="-128"/>
              <a:ea typeface="BIZ UDPゴシック" panose="020B0400000000000000" pitchFamily="50" charset="-128"/>
            </a:endParaRPr>
          </a:p>
        </p:txBody>
      </p:sp>
      <p:sp>
        <p:nvSpPr>
          <p:cNvPr id="4" name="テキスト ボックス 3">
            <a:extLst>
              <a:ext uri="{FF2B5EF4-FFF2-40B4-BE49-F238E27FC236}">
                <a16:creationId xmlns:a16="http://schemas.microsoft.com/office/drawing/2014/main" id="{6EE2F5FE-B6DB-3456-1315-00F7A2BE2576}"/>
              </a:ext>
            </a:extLst>
          </p:cNvPr>
          <p:cNvSpPr txBox="1"/>
          <p:nvPr/>
        </p:nvSpPr>
        <p:spPr>
          <a:xfrm>
            <a:off x="6449822" y="5151815"/>
            <a:ext cx="5505033" cy="1569660"/>
          </a:xfrm>
          <a:prstGeom prst="rect">
            <a:avLst/>
          </a:prstGeom>
          <a:noFill/>
        </p:spPr>
        <p:txBody>
          <a:bodyPr wrap="none" rtlCol="0">
            <a:spAutoFit/>
          </a:bodyPr>
          <a:lstStyle/>
          <a:p>
            <a:r>
              <a:rPr kumimoji="1" lang="ja-JP" altLang="en-US" sz="2400" dirty="0"/>
              <a:t>先端運用技術ユニット</a:t>
            </a:r>
            <a:endParaRPr kumimoji="1" lang="en-US" altLang="ja-JP" sz="2400" dirty="0"/>
          </a:p>
          <a:p>
            <a:r>
              <a:rPr kumimoji="1" lang="ja-JP" altLang="en-US" sz="2400" dirty="0"/>
              <a:t>一関工業高等専門学校</a:t>
            </a:r>
            <a:endParaRPr kumimoji="1" lang="en-US" altLang="ja-JP" sz="2400" dirty="0"/>
          </a:p>
          <a:p>
            <a:r>
              <a:rPr kumimoji="1" lang="ja-JP" altLang="en-US" sz="2400" dirty="0"/>
              <a:t>未来創造工学科 情報・ソフトウェア系</a:t>
            </a:r>
            <a:endParaRPr kumimoji="1" lang="en-US" altLang="ja-JP" sz="2400" dirty="0"/>
          </a:p>
          <a:p>
            <a:r>
              <a:rPr kumimoji="1" lang="en-US" altLang="ja-JP" sz="2400" dirty="0"/>
              <a:t>4</a:t>
            </a:r>
            <a:r>
              <a:rPr kumimoji="1" lang="ja-JP" altLang="en-US" sz="2400" dirty="0"/>
              <a:t>年 千葉温斗</a:t>
            </a:r>
          </a:p>
        </p:txBody>
      </p:sp>
      <p:sp>
        <p:nvSpPr>
          <p:cNvPr id="5" name="スライド番号プレースホルダー 4">
            <a:extLst>
              <a:ext uri="{FF2B5EF4-FFF2-40B4-BE49-F238E27FC236}">
                <a16:creationId xmlns:a16="http://schemas.microsoft.com/office/drawing/2014/main" id="{CC197981-C793-AA3D-CC60-B756064B4E66}"/>
              </a:ext>
            </a:extLst>
          </p:cNvPr>
          <p:cNvSpPr>
            <a:spLocks noGrp="1"/>
          </p:cNvSpPr>
          <p:nvPr>
            <p:ph type="sldNum" sz="quarter" idx="12"/>
          </p:nvPr>
        </p:nvSpPr>
        <p:spPr/>
        <p:txBody>
          <a:bodyPr/>
          <a:lstStyle/>
          <a:p>
            <a:fld id="{C636472C-77F3-4730-9E58-470BC344D402}" type="slidenum">
              <a:rPr kumimoji="1" lang="ja-JP" altLang="en-US" sz="3200" smtClean="0"/>
              <a:t>1</a:t>
            </a:fld>
            <a:endParaRPr kumimoji="1" lang="ja-JP" altLang="en-US" sz="3200" dirty="0"/>
          </a:p>
        </p:txBody>
      </p:sp>
    </p:spTree>
    <p:extLst>
      <p:ext uri="{BB962C8B-B14F-4D97-AF65-F5344CB8AC3E}">
        <p14:creationId xmlns:p14="http://schemas.microsoft.com/office/powerpoint/2010/main" val="3236151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EF36AAE-0A7B-02B4-58C8-8631A25D3047}"/>
              </a:ext>
            </a:extLst>
          </p:cNvPr>
          <p:cNvSpPr>
            <a:spLocks noGrp="1"/>
          </p:cNvSpPr>
          <p:nvPr>
            <p:ph type="title"/>
          </p:nvPr>
        </p:nvSpPr>
        <p:spPr/>
        <p:txBody>
          <a:bodyPr>
            <a:normAutofit/>
          </a:bodyPr>
          <a:lstStyle/>
          <a:p>
            <a:r>
              <a:rPr kumimoji="1" lang="ja-JP" altLang="en-US" sz="5400" b="1" dirty="0">
                <a:latin typeface="BIZ UDPゴシック" panose="020B0400000000000000" pitchFamily="50" charset="-128"/>
                <a:ea typeface="BIZ UDPゴシック" panose="020B0400000000000000" pitchFamily="50" charset="-128"/>
                <a:cs typeface="ADLaM Display" panose="020F0502020204030204" pitchFamily="2" charset="0"/>
              </a:rPr>
              <a:t>自己紹介</a:t>
            </a:r>
          </a:p>
        </p:txBody>
      </p:sp>
      <p:sp>
        <p:nvSpPr>
          <p:cNvPr id="4" name="テキスト ボックス 3">
            <a:extLst>
              <a:ext uri="{FF2B5EF4-FFF2-40B4-BE49-F238E27FC236}">
                <a16:creationId xmlns:a16="http://schemas.microsoft.com/office/drawing/2014/main" id="{E32D3306-0D51-53E8-A1FF-6510D3A0FA96}"/>
              </a:ext>
            </a:extLst>
          </p:cNvPr>
          <p:cNvSpPr txBox="1"/>
          <p:nvPr/>
        </p:nvSpPr>
        <p:spPr>
          <a:xfrm>
            <a:off x="838200" y="1790700"/>
            <a:ext cx="5314275" cy="1815882"/>
          </a:xfrm>
          <a:prstGeom prst="rect">
            <a:avLst/>
          </a:prstGeom>
          <a:noFill/>
        </p:spPr>
        <p:txBody>
          <a:bodyPr wrap="none" rtlCol="0">
            <a:spAutoFit/>
          </a:bodyPr>
          <a:lstStyle/>
          <a:p>
            <a:r>
              <a:rPr lang="ja-JP" altLang="en-US" sz="2800" dirty="0"/>
              <a:t>名前：千葉温斗</a:t>
            </a:r>
            <a:endParaRPr lang="en-US" altLang="ja-JP" sz="2800" dirty="0"/>
          </a:p>
          <a:p>
            <a:r>
              <a:rPr kumimoji="1" lang="ja-JP" altLang="en-US" sz="2800" dirty="0"/>
              <a:t>所属：一関高専 未来創造工学科</a:t>
            </a:r>
            <a:endParaRPr kumimoji="1" lang="en-US" altLang="ja-JP" sz="2800" dirty="0"/>
          </a:p>
          <a:p>
            <a:r>
              <a:rPr lang="ja-JP" altLang="en-US" sz="2800" dirty="0"/>
              <a:t>　　　</a:t>
            </a:r>
            <a:r>
              <a:rPr kumimoji="1" lang="ja-JP" altLang="en-US" sz="2800" dirty="0"/>
              <a:t>情報・ソフトウェア系</a:t>
            </a:r>
            <a:endParaRPr kumimoji="1" lang="en-US" altLang="ja-JP" sz="2800" dirty="0"/>
          </a:p>
          <a:p>
            <a:endParaRPr kumimoji="1" lang="ja-JP" altLang="en-US" sz="2800" dirty="0"/>
          </a:p>
        </p:txBody>
      </p:sp>
      <p:sp>
        <p:nvSpPr>
          <p:cNvPr id="7" name="スライド番号プレースホルダー 6">
            <a:extLst>
              <a:ext uri="{FF2B5EF4-FFF2-40B4-BE49-F238E27FC236}">
                <a16:creationId xmlns:a16="http://schemas.microsoft.com/office/drawing/2014/main" id="{E4732C6E-5EA9-3A2F-4A63-FF57B5134F5D}"/>
              </a:ext>
            </a:extLst>
          </p:cNvPr>
          <p:cNvSpPr>
            <a:spLocks noGrp="1"/>
          </p:cNvSpPr>
          <p:nvPr>
            <p:ph type="sldNum" sz="quarter" idx="12"/>
          </p:nvPr>
        </p:nvSpPr>
        <p:spPr/>
        <p:txBody>
          <a:bodyPr/>
          <a:lstStyle/>
          <a:p>
            <a:fld id="{C636472C-77F3-4730-9E58-470BC344D402}" type="slidenum">
              <a:rPr kumimoji="1" lang="ja-JP" altLang="en-US" sz="3200" smtClean="0"/>
              <a:t>2</a:t>
            </a:fld>
            <a:endParaRPr kumimoji="1" lang="ja-JP" altLang="en-US" sz="3200" dirty="0"/>
          </a:p>
        </p:txBody>
      </p:sp>
      <p:sp>
        <p:nvSpPr>
          <p:cNvPr id="3" name="テキスト ボックス 2">
            <a:extLst>
              <a:ext uri="{FF2B5EF4-FFF2-40B4-BE49-F238E27FC236}">
                <a16:creationId xmlns:a16="http://schemas.microsoft.com/office/drawing/2014/main" id="{4DB55D76-D623-259C-B7EE-70618A945D83}"/>
              </a:ext>
            </a:extLst>
          </p:cNvPr>
          <p:cNvSpPr txBox="1"/>
          <p:nvPr/>
        </p:nvSpPr>
        <p:spPr>
          <a:xfrm>
            <a:off x="838200" y="3344972"/>
            <a:ext cx="3057247" cy="523220"/>
          </a:xfrm>
          <a:prstGeom prst="rect">
            <a:avLst/>
          </a:prstGeom>
          <a:noFill/>
        </p:spPr>
        <p:txBody>
          <a:bodyPr wrap="none" rtlCol="0">
            <a:spAutoFit/>
          </a:bodyPr>
          <a:lstStyle/>
          <a:p>
            <a:r>
              <a:rPr kumimoji="1" lang="ja-JP" altLang="en-US" sz="2800" dirty="0"/>
              <a:t>↓家で飼ってる猫</a:t>
            </a:r>
          </a:p>
        </p:txBody>
      </p:sp>
      <p:pic>
        <p:nvPicPr>
          <p:cNvPr id="5" name="図 4">
            <a:extLst>
              <a:ext uri="{FF2B5EF4-FFF2-40B4-BE49-F238E27FC236}">
                <a16:creationId xmlns:a16="http://schemas.microsoft.com/office/drawing/2014/main" id="{D7445481-2EE5-F827-DB2A-5421CF65E75C}"/>
              </a:ext>
              <a:ext uri="{C183D7F6-B498-43B3-948B-1728B52AA6E4}">
                <adec:decorative xmlns:adec="http://schemas.microsoft.com/office/drawing/2017/decorative" val="1"/>
              </a:ext>
            </a:extLst>
          </p:cNvPr>
          <p:cNvPicPr>
            <a:picLocks noChangeAspect="1"/>
          </p:cNvPicPr>
          <p:nvPr/>
        </p:nvPicPr>
        <p:blipFill>
          <a:blip r:embed="rId2"/>
          <a:srcRect t="20830" b="17588"/>
          <a:stretch>
            <a:fillRect/>
          </a:stretch>
        </p:blipFill>
        <p:spPr>
          <a:xfrm>
            <a:off x="338556" y="4027425"/>
            <a:ext cx="3002628" cy="2465450"/>
          </a:xfrm>
          <a:prstGeom prst="rect">
            <a:avLst/>
          </a:prstGeom>
        </p:spPr>
      </p:pic>
      <p:pic>
        <p:nvPicPr>
          <p:cNvPr id="8" name="図 7">
            <a:extLst>
              <a:ext uri="{FF2B5EF4-FFF2-40B4-BE49-F238E27FC236}">
                <a16:creationId xmlns:a16="http://schemas.microsoft.com/office/drawing/2014/main" id="{50AAD5D2-1F62-AA2E-6220-97D107BD74A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341184" y="4027424"/>
            <a:ext cx="3287268" cy="2465451"/>
          </a:xfrm>
          <a:prstGeom prst="rect">
            <a:avLst/>
          </a:prstGeom>
        </p:spPr>
      </p:pic>
      <p:pic>
        <p:nvPicPr>
          <p:cNvPr id="6" name="図 5">
            <a:extLst>
              <a:ext uri="{FF2B5EF4-FFF2-40B4-BE49-F238E27FC236}">
                <a16:creationId xmlns:a16="http://schemas.microsoft.com/office/drawing/2014/main" id="{9DBD9386-C29A-0BFB-4086-B1562F0D0963}"/>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024491" y="0"/>
            <a:ext cx="5167509" cy="6890582"/>
          </a:xfrm>
          <a:prstGeom prst="rect">
            <a:avLst/>
          </a:prstGeom>
        </p:spPr>
      </p:pic>
      <p:pic>
        <p:nvPicPr>
          <p:cNvPr id="10" name="図 9">
            <a:extLst>
              <a:ext uri="{FF2B5EF4-FFF2-40B4-BE49-F238E27FC236}">
                <a16:creationId xmlns:a16="http://schemas.microsoft.com/office/drawing/2014/main" id="{69489FB3-9F02-1CF7-9200-261EFBBE7FB0}"/>
              </a:ext>
            </a:extLst>
          </p:cNvPr>
          <p:cNvPicPr>
            <a:picLocks noChangeAspect="1"/>
          </p:cNvPicPr>
          <p:nvPr/>
        </p:nvPicPr>
        <p:blipFill>
          <a:blip r:embed="rId5"/>
          <a:stretch>
            <a:fillRect/>
          </a:stretch>
        </p:blipFill>
        <p:spPr>
          <a:xfrm>
            <a:off x="4773774" y="365125"/>
            <a:ext cx="1412517" cy="1412517"/>
          </a:xfrm>
          <a:prstGeom prst="rect">
            <a:avLst/>
          </a:prstGeom>
        </p:spPr>
      </p:pic>
    </p:spTree>
    <p:extLst>
      <p:ext uri="{BB962C8B-B14F-4D97-AF65-F5344CB8AC3E}">
        <p14:creationId xmlns:p14="http://schemas.microsoft.com/office/powerpoint/2010/main" val="35262906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F90864-AD18-B4AE-8765-06D04490D1E0}"/>
              </a:ext>
            </a:extLst>
          </p:cNvPr>
          <p:cNvSpPr>
            <a:spLocks noGrp="1"/>
          </p:cNvSpPr>
          <p:nvPr>
            <p:ph type="title"/>
          </p:nvPr>
        </p:nvSpPr>
        <p:spPr/>
        <p:txBody>
          <a:bodyPr>
            <a:normAutofit/>
          </a:bodyPr>
          <a:lstStyle/>
          <a:p>
            <a:r>
              <a:rPr kumimoji="1" lang="ja-JP" altLang="en-US" sz="5400" b="1" dirty="0">
                <a:latin typeface="BIZ UDPゴシック" panose="020B0400000000000000" pitchFamily="50" charset="-128"/>
                <a:ea typeface="BIZ UDPゴシック" panose="020B0400000000000000" pitchFamily="50" charset="-128"/>
              </a:rPr>
              <a:t>目的</a:t>
            </a:r>
          </a:p>
        </p:txBody>
      </p:sp>
      <p:sp>
        <p:nvSpPr>
          <p:cNvPr id="3" name="テキスト ボックス 2">
            <a:extLst>
              <a:ext uri="{FF2B5EF4-FFF2-40B4-BE49-F238E27FC236}">
                <a16:creationId xmlns:a16="http://schemas.microsoft.com/office/drawing/2014/main" id="{EABAE683-70ED-ABBE-9951-887F78DFF255}"/>
              </a:ext>
            </a:extLst>
          </p:cNvPr>
          <p:cNvSpPr txBox="1"/>
          <p:nvPr/>
        </p:nvSpPr>
        <p:spPr>
          <a:xfrm>
            <a:off x="838200" y="1850626"/>
            <a:ext cx="10443885" cy="3539430"/>
          </a:xfrm>
          <a:prstGeom prst="rect">
            <a:avLst/>
          </a:prstGeom>
          <a:noFill/>
        </p:spPr>
        <p:txBody>
          <a:bodyPr wrap="none" rtlCol="0">
            <a:spAutoFit/>
          </a:bodyPr>
          <a:lstStyle/>
          <a:p>
            <a:r>
              <a:rPr lang="ja-JP" altLang="en-US" sz="3200" dirty="0"/>
              <a:t>富岳</a:t>
            </a:r>
            <a:r>
              <a:rPr lang="en-US" altLang="ja-JP" sz="3200" dirty="0"/>
              <a:t>(F-DATA)</a:t>
            </a:r>
            <a:r>
              <a:rPr lang="ja-JP" altLang="en-US" sz="3200" dirty="0"/>
              <a:t>のジョブスケジューリングログから</a:t>
            </a:r>
            <a:endParaRPr lang="en-US" altLang="ja-JP" sz="3200" dirty="0"/>
          </a:p>
          <a:p>
            <a:r>
              <a:rPr lang="ja-JP" altLang="en-US" sz="3200" dirty="0"/>
              <a:t>消費電力の時系列を構築し、事前学習済みの</a:t>
            </a:r>
            <a:endParaRPr lang="en-US" altLang="ja-JP" sz="3200" dirty="0"/>
          </a:p>
          <a:p>
            <a:r>
              <a:rPr lang="ja-JP" altLang="en-US" sz="3200" dirty="0"/>
              <a:t>時系列基盤モデル</a:t>
            </a:r>
            <a:r>
              <a:rPr lang="en-US" altLang="ja-JP" sz="3200" dirty="0"/>
              <a:t> Chronos-bolt</a:t>
            </a:r>
            <a:r>
              <a:rPr lang="ja-JP" altLang="en-US" sz="3200" dirty="0"/>
              <a:t>と、</a:t>
            </a:r>
            <a:endParaRPr lang="en-US" altLang="ja-JP" sz="3200" dirty="0"/>
          </a:p>
          <a:p>
            <a:r>
              <a:rPr lang="ja-JP" altLang="en-US" sz="3200" dirty="0"/>
              <a:t>富岳の稼働データで訓練した機械学習モデルのどちらが</a:t>
            </a:r>
            <a:endParaRPr lang="en-US" altLang="ja-JP" sz="3200" dirty="0"/>
          </a:p>
          <a:p>
            <a:r>
              <a:rPr lang="ja-JP" altLang="en-US" sz="3200" dirty="0"/>
              <a:t>消費電力予測に強いかを明らかにする。</a:t>
            </a:r>
            <a:endParaRPr lang="en-US" altLang="ja-JP" sz="3200" dirty="0"/>
          </a:p>
          <a:p>
            <a:r>
              <a:rPr lang="ja-JP" altLang="en-US" sz="3200" dirty="0"/>
              <a:t>特に、その優劣が予測ホライズンや運用状況の変化に</a:t>
            </a:r>
            <a:endParaRPr lang="en-US" altLang="ja-JP" sz="3200" dirty="0"/>
          </a:p>
          <a:p>
            <a:r>
              <a:rPr lang="ja-JP" altLang="en-US" sz="3200" dirty="0"/>
              <a:t>よってどう変わるかを検証する。</a:t>
            </a:r>
            <a:endParaRPr kumimoji="1" lang="ja-JP" altLang="en-US" sz="3200" dirty="0"/>
          </a:p>
        </p:txBody>
      </p:sp>
      <p:sp>
        <p:nvSpPr>
          <p:cNvPr id="4" name="スライド番号プレースホルダー 3">
            <a:extLst>
              <a:ext uri="{FF2B5EF4-FFF2-40B4-BE49-F238E27FC236}">
                <a16:creationId xmlns:a16="http://schemas.microsoft.com/office/drawing/2014/main" id="{B9FC6768-D2A1-A476-9928-BA1AA474CCD5}"/>
              </a:ext>
            </a:extLst>
          </p:cNvPr>
          <p:cNvSpPr>
            <a:spLocks noGrp="1"/>
          </p:cNvSpPr>
          <p:nvPr>
            <p:ph type="sldNum" sz="quarter" idx="12"/>
          </p:nvPr>
        </p:nvSpPr>
        <p:spPr/>
        <p:txBody>
          <a:bodyPr/>
          <a:lstStyle/>
          <a:p>
            <a:fld id="{C636472C-77F3-4730-9E58-470BC344D402}" type="slidenum">
              <a:rPr kumimoji="1" lang="ja-JP" altLang="en-US" sz="3200" smtClean="0"/>
              <a:t>3</a:t>
            </a:fld>
            <a:endParaRPr kumimoji="1" lang="ja-JP" altLang="en-US" sz="3200" dirty="0"/>
          </a:p>
        </p:txBody>
      </p:sp>
    </p:spTree>
    <p:extLst>
      <p:ext uri="{BB962C8B-B14F-4D97-AF65-F5344CB8AC3E}">
        <p14:creationId xmlns:p14="http://schemas.microsoft.com/office/powerpoint/2010/main" val="3709329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8EA5C4-1583-BC2A-AC51-1A2FDC1CD6CB}"/>
              </a:ext>
            </a:extLst>
          </p:cNvPr>
          <p:cNvSpPr>
            <a:spLocks noGrp="1"/>
          </p:cNvSpPr>
          <p:nvPr>
            <p:ph type="title"/>
          </p:nvPr>
        </p:nvSpPr>
        <p:spPr/>
        <p:txBody>
          <a:bodyPr>
            <a:normAutofit/>
          </a:bodyPr>
          <a:lstStyle/>
          <a:p>
            <a:r>
              <a:rPr kumimoji="1" lang="ja-JP" altLang="en-US" sz="5400" b="1" dirty="0">
                <a:latin typeface="BIZ UDPゴシック" panose="020B0400000000000000" pitchFamily="50" charset="-128"/>
                <a:ea typeface="BIZ UDPゴシック" panose="020B0400000000000000" pitchFamily="50" charset="-128"/>
              </a:rPr>
              <a:t>実行環境</a:t>
            </a:r>
          </a:p>
        </p:txBody>
      </p:sp>
      <p:sp>
        <p:nvSpPr>
          <p:cNvPr id="3" name="スライド番号プレースホルダー 2">
            <a:extLst>
              <a:ext uri="{FF2B5EF4-FFF2-40B4-BE49-F238E27FC236}">
                <a16:creationId xmlns:a16="http://schemas.microsoft.com/office/drawing/2014/main" id="{A306C101-E008-1BB0-A39E-0F5ED2E6EFD4}"/>
              </a:ext>
            </a:extLst>
          </p:cNvPr>
          <p:cNvSpPr>
            <a:spLocks noGrp="1"/>
          </p:cNvSpPr>
          <p:nvPr>
            <p:ph type="sldNum" sz="quarter" idx="12"/>
          </p:nvPr>
        </p:nvSpPr>
        <p:spPr/>
        <p:txBody>
          <a:bodyPr/>
          <a:lstStyle/>
          <a:p>
            <a:fld id="{C636472C-77F3-4730-9E58-470BC344D402}" type="slidenum">
              <a:rPr kumimoji="1" lang="ja-JP" altLang="en-US" sz="3200" smtClean="0"/>
              <a:t>4</a:t>
            </a:fld>
            <a:endParaRPr kumimoji="1" lang="ja-JP" altLang="en-US" sz="3200" dirty="0"/>
          </a:p>
        </p:txBody>
      </p:sp>
      <p:graphicFrame>
        <p:nvGraphicFramePr>
          <p:cNvPr id="6" name="表 5">
            <a:extLst>
              <a:ext uri="{FF2B5EF4-FFF2-40B4-BE49-F238E27FC236}">
                <a16:creationId xmlns:a16="http://schemas.microsoft.com/office/drawing/2014/main" id="{F6C9DF97-6D0F-2C34-0375-115F464F3DB1}"/>
              </a:ext>
            </a:extLst>
          </p:cNvPr>
          <p:cNvGraphicFramePr>
            <a:graphicFrameLocks noGrp="1"/>
          </p:cNvGraphicFramePr>
          <p:nvPr>
            <p:extLst>
              <p:ext uri="{D42A27DB-BD31-4B8C-83A1-F6EECF244321}">
                <p14:modId xmlns:p14="http://schemas.microsoft.com/office/powerpoint/2010/main" val="2632179081"/>
              </p:ext>
            </p:extLst>
          </p:nvPr>
        </p:nvGraphicFramePr>
        <p:xfrm>
          <a:off x="582168" y="1687582"/>
          <a:ext cx="9869424" cy="4784142"/>
        </p:xfrm>
        <a:graphic>
          <a:graphicData uri="http://schemas.openxmlformats.org/drawingml/2006/table">
            <a:tbl>
              <a:tblPr firstRow="1" bandRow="1">
                <a:tableStyleId>{9D7B26C5-4107-4FEC-AEDC-1716B250A1EF}</a:tableStyleId>
              </a:tblPr>
              <a:tblGrid>
                <a:gridCol w="4934712">
                  <a:extLst>
                    <a:ext uri="{9D8B030D-6E8A-4147-A177-3AD203B41FA5}">
                      <a16:colId xmlns:a16="http://schemas.microsoft.com/office/drawing/2014/main" val="3140528800"/>
                    </a:ext>
                  </a:extLst>
                </a:gridCol>
                <a:gridCol w="4934712">
                  <a:extLst>
                    <a:ext uri="{9D8B030D-6E8A-4147-A177-3AD203B41FA5}">
                      <a16:colId xmlns:a16="http://schemas.microsoft.com/office/drawing/2014/main" val="4162629376"/>
                    </a:ext>
                  </a:extLst>
                </a:gridCol>
              </a:tblGrid>
              <a:tr h="434922">
                <a:tc>
                  <a:txBody>
                    <a:bodyPr/>
                    <a:lstStyle/>
                    <a:p>
                      <a:r>
                        <a:rPr kumimoji="1" lang="en-US" altLang="ja-JP" dirty="0"/>
                        <a:t>OS</a:t>
                      </a:r>
                      <a:endParaRPr kumimoji="1" lang="ja-JP" altLang="en-US" dirty="0"/>
                    </a:p>
                  </a:txBody>
                  <a:tcPr/>
                </a:tc>
                <a:tc>
                  <a:txBody>
                    <a:bodyPr/>
                    <a:lstStyle/>
                    <a:p>
                      <a:r>
                        <a:rPr kumimoji="1" lang="ja-JP" altLang="ja-JP" sz="1800" b="0" i="0" kern="1200" dirty="0">
                          <a:solidFill>
                            <a:schemeClr val="tx1"/>
                          </a:solidFill>
                          <a:effectLst/>
                          <a:latin typeface="+mn-lt"/>
                          <a:ea typeface="+mn-ea"/>
                          <a:cs typeface="+mn-cs"/>
                        </a:rPr>
                        <a:t>Ubuntu 26.04 LTS</a:t>
                      </a:r>
                      <a:endParaRPr kumimoji="1" lang="ja-JP" altLang="en-US" dirty="0"/>
                    </a:p>
                  </a:txBody>
                  <a:tcPr/>
                </a:tc>
                <a:extLst>
                  <a:ext uri="{0D108BD9-81ED-4DB2-BD59-A6C34878D82A}">
                    <a16:rowId xmlns:a16="http://schemas.microsoft.com/office/drawing/2014/main" val="4281874180"/>
                  </a:ext>
                </a:extLst>
              </a:tr>
              <a:tr h="434922">
                <a:tc>
                  <a:txBody>
                    <a:bodyPr/>
                    <a:lstStyle/>
                    <a:p>
                      <a:r>
                        <a:rPr kumimoji="1" lang="en-US" altLang="ja-JP" b="1" dirty="0"/>
                        <a:t>CPU/</a:t>
                      </a:r>
                      <a:r>
                        <a:rPr kumimoji="1" lang="ja-JP" altLang="en-US" b="1" dirty="0"/>
                        <a:t>メモリ</a:t>
                      </a:r>
                    </a:p>
                  </a:txBody>
                  <a:tcPr/>
                </a:tc>
                <a:tc>
                  <a:txBody>
                    <a:bodyPr/>
                    <a:lstStyle/>
                    <a:p>
                      <a:r>
                        <a:rPr kumimoji="1" lang="ja-JP" altLang="ja-JP" sz="1800" b="0" i="0" kern="1200" dirty="0">
                          <a:solidFill>
                            <a:schemeClr val="tx1"/>
                          </a:solidFill>
                          <a:effectLst/>
                          <a:latin typeface="+mn-lt"/>
                          <a:ea typeface="+mn-ea"/>
                          <a:cs typeface="+mn-cs"/>
                        </a:rPr>
                        <a:t>48コア / 153GB（GPUなし）</a:t>
                      </a:r>
                      <a:endParaRPr kumimoji="1" lang="ja-JP" altLang="en-US" dirty="0"/>
                    </a:p>
                  </a:txBody>
                  <a:tcPr/>
                </a:tc>
                <a:extLst>
                  <a:ext uri="{0D108BD9-81ED-4DB2-BD59-A6C34878D82A}">
                    <a16:rowId xmlns:a16="http://schemas.microsoft.com/office/drawing/2014/main" val="13735190"/>
                  </a:ext>
                </a:extLst>
              </a:tr>
              <a:tr h="434922">
                <a:tc>
                  <a:txBody>
                    <a:bodyPr/>
                    <a:lstStyle/>
                    <a:p>
                      <a:r>
                        <a:rPr kumimoji="1" lang="en-US" altLang="ja-JP" b="1" dirty="0"/>
                        <a:t>Python</a:t>
                      </a:r>
                      <a:endParaRPr kumimoji="1" lang="ja-JP" altLang="en-US" b="1" dirty="0"/>
                    </a:p>
                  </a:txBody>
                  <a:tcPr/>
                </a:tc>
                <a:tc>
                  <a:txBody>
                    <a:bodyPr/>
                    <a:lstStyle/>
                    <a:p>
                      <a:r>
                        <a:rPr kumimoji="1" lang="en-US" altLang="ja-JP" dirty="0"/>
                        <a:t>3.14.4</a:t>
                      </a:r>
                      <a:endParaRPr kumimoji="1" lang="ja-JP" altLang="en-US" dirty="0"/>
                    </a:p>
                  </a:txBody>
                  <a:tcPr/>
                </a:tc>
                <a:extLst>
                  <a:ext uri="{0D108BD9-81ED-4DB2-BD59-A6C34878D82A}">
                    <a16:rowId xmlns:a16="http://schemas.microsoft.com/office/drawing/2014/main" val="2638195309"/>
                  </a:ext>
                </a:extLst>
              </a:tr>
              <a:tr h="434922">
                <a:tc>
                  <a:txBody>
                    <a:bodyPr/>
                    <a:lstStyle/>
                    <a:p>
                      <a:r>
                        <a:rPr kumimoji="1" lang="en-US" altLang="ja-JP" b="1" dirty="0"/>
                        <a:t>pandas</a:t>
                      </a:r>
                      <a:endParaRPr kumimoji="1" lang="ja-JP" altLang="en-US" b="1" dirty="0"/>
                    </a:p>
                  </a:txBody>
                  <a:tcPr/>
                </a:tc>
                <a:tc>
                  <a:txBody>
                    <a:bodyPr/>
                    <a:lstStyle/>
                    <a:p>
                      <a:r>
                        <a:rPr kumimoji="1" lang="en-US" altLang="ja-JP" dirty="0"/>
                        <a:t>3.0.5</a:t>
                      </a:r>
                      <a:endParaRPr kumimoji="1" lang="ja-JP" altLang="en-US" dirty="0"/>
                    </a:p>
                  </a:txBody>
                  <a:tcPr/>
                </a:tc>
                <a:extLst>
                  <a:ext uri="{0D108BD9-81ED-4DB2-BD59-A6C34878D82A}">
                    <a16:rowId xmlns:a16="http://schemas.microsoft.com/office/drawing/2014/main" val="937225406"/>
                  </a:ext>
                </a:extLst>
              </a:tr>
              <a:tr h="434922">
                <a:tc>
                  <a:txBody>
                    <a:bodyPr/>
                    <a:lstStyle/>
                    <a:p>
                      <a:r>
                        <a:rPr kumimoji="1" lang="en-US" altLang="ja-JP" b="1" dirty="0" err="1"/>
                        <a:t>numpy</a:t>
                      </a:r>
                      <a:endParaRPr kumimoji="1" lang="ja-JP" altLang="en-US" b="1" dirty="0"/>
                    </a:p>
                  </a:txBody>
                  <a:tcPr/>
                </a:tc>
                <a:tc>
                  <a:txBody>
                    <a:bodyPr/>
                    <a:lstStyle/>
                    <a:p>
                      <a:r>
                        <a:rPr kumimoji="1" lang="en-US" altLang="ja-JP" dirty="0"/>
                        <a:t>2.5.2</a:t>
                      </a:r>
                      <a:endParaRPr kumimoji="1" lang="ja-JP" altLang="en-US" dirty="0"/>
                    </a:p>
                  </a:txBody>
                  <a:tcPr/>
                </a:tc>
                <a:extLst>
                  <a:ext uri="{0D108BD9-81ED-4DB2-BD59-A6C34878D82A}">
                    <a16:rowId xmlns:a16="http://schemas.microsoft.com/office/drawing/2014/main" val="229408987"/>
                  </a:ext>
                </a:extLst>
              </a:tr>
              <a:tr h="434922">
                <a:tc>
                  <a:txBody>
                    <a:bodyPr/>
                    <a:lstStyle/>
                    <a:p>
                      <a:r>
                        <a:rPr kumimoji="1" lang="ja-JP" altLang="ja-JP" sz="1800" b="1" i="0" kern="1200" dirty="0">
                          <a:solidFill>
                            <a:schemeClr val="tx1"/>
                          </a:solidFill>
                          <a:effectLst/>
                          <a:latin typeface="+mn-lt"/>
                          <a:ea typeface="+mn-ea"/>
                          <a:cs typeface="+mn-cs"/>
                        </a:rPr>
                        <a:t>scikit-learn</a:t>
                      </a:r>
                      <a:endParaRPr kumimoji="1" lang="ja-JP" altLang="en-US" dirty="0"/>
                    </a:p>
                  </a:txBody>
                  <a:tcPr/>
                </a:tc>
                <a:tc>
                  <a:txBody>
                    <a:bodyPr/>
                    <a:lstStyle/>
                    <a:p>
                      <a:r>
                        <a:rPr kumimoji="1" lang="en-US" altLang="ja-JP" dirty="0"/>
                        <a:t>1.9.2</a:t>
                      </a:r>
                      <a:endParaRPr kumimoji="1" lang="ja-JP" altLang="en-US" dirty="0"/>
                    </a:p>
                  </a:txBody>
                  <a:tcPr/>
                </a:tc>
                <a:extLst>
                  <a:ext uri="{0D108BD9-81ED-4DB2-BD59-A6C34878D82A}">
                    <a16:rowId xmlns:a16="http://schemas.microsoft.com/office/drawing/2014/main" val="4159682289"/>
                  </a:ext>
                </a:extLst>
              </a:tr>
              <a:tr h="434922">
                <a:tc>
                  <a:txBody>
                    <a:bodyPr/>
                    <a:lstStyle/>
                    <a:p>
                      <a:r>
                        <a:rPr kumimoji="1" lang="ja-JP" altLang="ja-JP" sz="1800" b="1" i="0" kern="1200" dirty="0">
                          <a:solidFill>
                            <a:schemeClr val="tx1"/>
                          </a:solidFill>
                          <a:effectLst/>
                          <a:latin typeface="+mn-lt"/>
                          <a:ea typeface="+mn-ea"/>
                          <a:cs typeface="+mn-cs"/>
                        </a:rPr>
                        <a:t>LightGBM</a:t>
                      </a:r>
                      <a:endParaRPr kumimoji="1" lang="ja-JP" altLang="en-US" dirty="0"/>
                    </a:p>
                  </a:txBody>
                  <a:tcPr/>
                </a:tc>
                <a:tc>
                  <a:txBody>
                    <a:bodyPr/>
                    <a:lstStyle/>
                    <a:p>
                      <a:r>
                        <a:rPr kumimoji="1" lang="en-US" altLang="ja-JP" dirty="0"/>
                        <a:t>4.7.0</a:t>
                      </a:r>
                      <a:endParaRPr kumimoji="1" lang="ja-JP" altLang="en-US" dirty="0"/>
                    </a:p>
                  </a:txBody>
                  <a:tcPr/>
                </a:tc>
                <a:extLst>
                  <a:ext uri="{0D108BD9-81ED-4DB2-BD59-A6C34878D82A}">
                    <a16:rowId xmlns:a16="http://schemas.microsoft.com/office/drawing/2014/main" val="77612233"/>
                  </a:ext>
                </a:extLst>
              </a:tr>
              <a:tr h="434922">
                <a:tc>
                  <a:txBody>
                    <a:bodyPr/>
                    <a:lstStyle/>
                    <a:p>
                      <a:r>
                        <a:rPr kumimoji="1" lang="ja-JP" altLang="ja-JP" sz="1800" b="1" i="0" kern="1200" dirty="0">
                          <a:solidFill>
                            <a:schemeClr val="tx1"/>
                          </a:solidFill>
                          <a:effectLst/>
                          <a:latin typeface="+mn-lt"/>
                          <a:ea typeface="+mn-ea"/>
                          <a:cs typeface="+mn-cs"/>
                        </a:rPr>
                        <a:t>ruptures</a:t>
                      </a:r>
                      <a:endParaRPr kumimoji="1" lang="ja-JP" altLang="en-US" dirty="0"/>
                    </a:p>
                  </a:txBody>
                  <a:tcPr/>
                </a:tc>
                <a:tc>
                  <a:txBody>
                    <a:bodyPr/>
                    <a:lstStyle/>
                    <a:p>
                      <a:r>
                        <a:rPr kumimoji="1" lang="en-US" altLang="ja-JP" dirty="0"/>
                        <a:t>1.1.9</a:t>
                      </a:r>
                      <a:endParaRPr kumimoji="1" lang="ja-JP" altLang="en-US" dirty="0"/>
                    </a:p>
                  </a:txBody>
                  <a:tcPr/>
                </a:tc>
                <a:extLst>
                  <a:ext uri="{0D108BD9-81ED-4DB2-BD59-A6C34878D82A}">
                    <a16:rowId xmlns:a16="http://schemas.microsoft.com/office/drawing/2014/main" val="963135925"/>
                  </a:ext>
                </a:extLst>
              </a:tr>
              <a:tr h="434922">
                <a:tc>
                  <a:txBody>
                    <a:bodyPr/>
                    <a:lstStyle/>
                    <a:p>
                      <a:r>
                        <a:rPr kumimoji="1" lang="ja-JP" altLang="ja-JP" sz="1800" b="1" i="0" kern="1200" dirty="0">
                          <a:solidFill>
                            <a:schemeClr val="tx1"/>
                          </a:solidFill>
                          <a:effectLst/>
                          <a:latin typeface="+mn-lt"/>
                          <a:ea typeface="+mn-ea"/>
                          <a:cs typeface="+mn-cs"/>
                        </a:rPr>
                        <a:t>PyTorch</a:t>
                      </a:r>
                      <a:endParaRPr kumimoji="1" lang="ja-JP" altLang="en-US" dirty="0"/>
                    </a:p>
                  </a:txBody>
                  <a:tcPr/>
                </a:tc>
                <a:tc>
                  <a:txBody>
                    <a:bodyPr/>
                    <a:lstStyle/>
                    <a:p>
                      <a:r>
                        <a:rPr kumimoji="1" lang="en-US" altLang="ja-JP" dirty="0"/>
                        <a:t>2.13.0 + </a:t>
                      </a:r>
                      <a:r>
                        <a:rPr kumimoji="1" lang="en-US" altLang="ja-JP" dirty="0" err="1"/>
                        <a:t>cpu</a:t>
                      </a:r>
                      <a:endParaRPr kumimoji="1" lang="ja-JP" altLang="en-US" dirty="0"/>
                    </a:p>
                  </a:txBody>
                  <a:tcPr/>
                </a:tc>
                <a:extLst>
                  <a:ext uri="{0D108BD9-81ED-4DB2-BD59-A6C34878D82A}">
                    <a16:rowId xmlns:a16="http://schemas.microsoft.com/office/drawing/2014/main" val="2991910932"/>
                  </a:ext>
                </a:extLst>
              </a:tr>
              <a:tr h="434922">
                <a:tc>
                  <a:txBody>
                    <a:bodyPr/>
                    <a:lstStyle/>
                    <a:p>
                      <a:r>
                        <a:rPr kumimoji="1" lang="ja-JP" altLang="ja-JP" sz="1800" b="1" i="0" kern="1200" dirty="0">
                          <a:solidFill>
                            <a:schemeClr val="tx1"/>
                          </a:solidFill>
                          <a:effectLst/>
                          <a:latin typeface="+mn-lt"/>
                          <a:ea typeface="+mn-ea"/>
                          <a:cs typeface="+mn-cs"/>
                        </a:rPr>
                        <a:t>transformers</a:t>
                      </a:r>
                      <a:endParaRPr kumimoji="1" lang="ja-JP" altLang="en-US" dirty="0"/>
                    </a:p>
                  </a:txBody>
                  <a:tcPr/>
                </a:tc>
                <a:tc>
                  <a:txBody>
                    <a:bodyPr/>
                    <a:lstStyle/>
                    <a:p>
                      <a:r>
                        <a:rPr kumimoji="1" lang="en-US" altLang="ja-JP" dirty="0"/>
                        <a:t>5.15.1</a:t>
                      </a:r>
                      <a:endParaRPr kumimoji="1" lang="ja-JP" altLang="en-US" dirty="0"/>
                    </a:p>
                  </a:txBody>
                  <a:tcPr/>
                </a:tc>
                <a:extLst>
                  <a:ext uri="{0D108BD9-81ED-4DB2-BD59-A6C34878D82A}">
                    <a16:rowId xmlns:a16="http://schemas.microsoft.com/office/drawing/2014/main" val="2884201762"/>
                  </a:ext>
                </a:extLst>
              </a:tr>
              <a:tr h="434922">
                <a:tc>
                  <a:txBody>
                    <a:bodyPr/>
                    <a:lstStyle/>
                    <a:p>
                      <a:r>
                        <a:rPr kumimoji="1" lang="ja-JP" altLang="ja-JP" sz="1800" b="1" i="0" kern="1200" dirty="0">
                          <a:solidFill>
                            <a:schemeClr val="tx1"/>
                          </a:solidFill>
                          <a:effectLst/>
                          <a:latin typeface="+mn-lt"/>
                          <a:ea typeface="+mn-ea"/>
                          <a:cs typeface="+mn-cs"/>
                        </a:rPr>
                        <a:t>chronos-forecasting</a:t>
                      </a:r>
                      <a:endParaRPr kumimoji="1" lang="ja-JP" altLang="en-US" dirty="0"/>
                    </a:p>
                  </a:txBody>
                  <a:tcPr/>
                </a:tc>
                <a:tc>
                  <a:txBody>
                    <a:bodyPr/>
                    <a:lstStyle/>
                    <a:p>
                      <a:r>
                        <a:rPr kumimoji="1" lang="en-US" altLang="ja-JP" dirty="0"/>
                        <a:t>2.3.1</a:t>
                      </a:r>
                      <a:endParaRPr kumimoji="1" lang="ja-JP" altLang="en-US" dirty="0"/>
                    </a:p>
                  </a:txBody>
                  <a:tcPr/>
                </a:tc>
                <a:extLst>
                  <a:ext uri="{0D108BD9-81ED-4DB2-BD59-A6C34878D82A}">
                    <a16:rowId xmlns:a16="http://schemas.microsoft.com/office/drawing/2014/main" val="2015280138"/>
                  </a:ext>
                </a:extLst>
              </a:tr>
            </a:tbl>
          </a:graphicData>
        </a:graphic>
      </p:graphicFrame>
    </p:spTree>
    <p:extLst>
      <p:ext uri="{BB962C8B-B14F-4D97-AF65-F5344CB8AC3E}">
        <p14:creationId xmlns:p14="http://schemas.microsoft.com/office/powerpoint/2010/main" val="367228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215CA0E-5DB8-83F9-772E-F3B718B79768}"/>
              </a:ext>
            </a:extLst>
          </p:cNvPr>
          <p:cNvSpPr>
            <a:spLocks noGrp="1"/>
          </p:cNvSpPr>
          <p:nvPr>
            <p:ph type="title"/>
          </p:nvPr>
        </p:nvSpPr>
        <p:spPr>
          <a:xfrm>
            <a:off x="545592" y="474853"/>
            <a:ext cx="10515600" cy="1325563"/>
          </a:xfrm>
        </p:spPr>
        <p:txBody>
          <a:bodyPr>
            <a:noAutofit/>
          </a:bodyPr>
          <a:lstStyle/>
          <a:p>
            <a:r>
              <a:rPr lang="ja-JP" altLang="en-US" sz="5400" b="1" dirty="0">
                <a:latin typeface="BIZ UDPゴシック" panose="020B0400000000000000" pitchFamily="50" charset="-128"/>
                <a:ea typeface="BIZ UDPゴシック" panose="020B0400000000000000" pitchFamily="50" charset="-128"/>
              </a:rPr>
              <a:t>富岳のジョブログを時系列に変換</a:t>
            </a:r>
            <a:endParaRPr kumimoji="1" lang="ja-JP" altLang="en-US" sz="5400" b="1" dirty="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53B8B86D-54DD-7563-85FF-30F07F138595}"/>
              </a:ext>
            </a:extLst>
          </p:cNvPr>
          <p:cNvSpPr txBox="1"/>
          <p:nvPr/>
        </p:nvSpPr>
        <p:spPr>
          <a:xfrm>
            <a:off x="545592" y="1800416"/>
            <a:ext cx="10134506" cy="954107"/>
          </a:xfrm>
          <a:prstGeom prst="rect">
            <a:avLst/>
          </a:prstGeom>
          <a:noFill/>
        </p:spPr>
        <p:txBody>
          <a:bodyPr wrap="none" rtlCol="0">
            <a:spAutoFit/>
          </a:bodyPr>
          <a:lstStyle/>
          <a:p>
            <a:r>
              <a:rPr kumimoji="1" lang="en-US" altLang="ja-JP" sz="2800" dirty="0"/>
              <a:t>F-DATA</a:t>
            </a:r>
            <a:r>
              <a:rPr kumimoji="1" lang="ja-JP" altLang="en-US" sz="2800" dirty="0"/>
              <a:t>：富岳のジョブスケジューリングシステムが記録した</a:t>
            </a:r>
            <a:endParaRPr kumimoji="1" lang="en-US" altLang="ja-JP" sz="2800" dirty="0"/>
          </a:p>
          <a:p>
            <a:r>
              <a:rPr lang="ja-JP" altLang="en-US" sz="2800" dirty="0"/>
              <a:t>　　　      </a:t>
            </a:r>
            <a:r>
              <a:rPr kumimoji="1" lang="ja-JP" altLang="en-US" sz="2800" dirty="0"/>
              <a:t>ジョブ単位の生ログ</a:t>
            </a:r>
          </a:p>
        </p:txBody>
      </p:sp>
      <p:pic>
        <p:nvPicPr>
          <p:cNvPr id="7" name="図 6">
            <a:extLst>
              <a:ext uri="{FF2B5EF4-FFF2-40B4-BE49-F238E27FC236}">
                <a16:creationId xmlns:a16="http://schemas.microsoft.com/office/drawing/2014/main" id="{C1D3D5F7-1AF7-6DB1-5FDA-88BEB0F380CB}"/>
              </a:ext>
            </a:extLst>
          </p:cNvPr>
          <p:cNvPicPr>
            <a:picLocks noChangeAspect="1"/>
          </p:cNvPicPr>
          <p:nvPr/>
        </p:nvPicPr>
        <p:blipFill>
          <a:blip r:embed="rId3"/>
          <a:stretch>
            <a:fillRect/>
          </a:stretch>
        </p:blipFill>
        <p:spPr>
          <a:xfrm>
            <a:off x="1145427" y="2923960"/>
            <a:ext cx="9315929" cy="3581584"/>
          </a:xfrm>
          <a:prstGeom prst="rect">
            <a:avLst/>
          </a:prstGeom>
          <a:ln>
            <a:noFill/>
          </a:ln>
          <a:effectLst>
            <a:outerShdw blurRad="292100" dist="139700" dir="2700000" algn="tl" rotWithShape="0">
              <a:srgbClr val="333333">
                <a:alpha val="65000"/>
              </a:srgbClr>
            </a:outerShdw>
          </a:effectLst>
        </p:spPr>
      </p:pic>
      <p:sp>
        <p:nvSpPr>
          <p:cNvPr id="8" name="スライド番号プレースホルダー 7">
            <a:extLst>
              <a:ext uri="{FF2B5EF4-FFF2-40B4-BE49-F238E27FC236}">
                <a16:creationId xmlns:a16="http://schemas.microsoft.com/office/drawing/2014/main" id="{1C28EC1B-979C-236D-3DE6-A73A5A8FF7D3}"/>
              </a:ext>
            </a:extLst>
          </p:cNvPr>
          <p:cNvSpPr>
            <a:spLocks noGrp="1"/>
          </p:cNvSpPr>
          <p:nvPr>
            <p:ph type="sldNum" sz="quarter" idx="12"/>
          </p:nvPr>
        </p:nvSpPr>
        <p:spPr/>
        <p:txBody>
          <a:bodyPr/>
          <a:lstStyle/>
          <a:p>
            <a:fld id="{C636472C-77F3-4730-9E58-470BC344D402}" type="slidenum">
              <a:rPr kumimoji="1" lang="ja-JP" altLang="en-US" sz="3200" smtClean="0"/>
              <a:t>5</a:t>
            </a:fld>
            <a:endParaRPr kumimoji="1" lang="ja-JP" altLang="en-US" sz="3200" dirty="0"/>
          </a:p>
        </p:txBody>
      </p:sp>
    </p:spTree>
    <p:extLst>
      <p:ext uri="{BB962C8B-B14F-4D97-AF65-F5344CB8AC3E}">
        <p14:creationId xmlns:p14="http://schemas.microsoft.com/office/powerpoint/2010/main" val="1987812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54A028-AF0A-47DD-C672-6CC180C1B1EC}"/>
              </a:ext>
            </a:extLst>
          </p:cNvPr>
          <p:cNvSpPr>
            <a:spLocks noGrp="1"/>
          </p:cNvSpPr>
          <p:nvPr>
            <p:ph type="title"/>
          </p:nvPr>
        </p:nvSpPr>
        <p:spPr/>
        <p:txBody>
          <a:bodyPr>
            <a:normAutofit/>
          </a:bodyPr>
          <a:lstStyle/>
          <a:p>
            <a:r>
              <a:rPr kumimoji="1" lang="ja-JP" altLang="en-US" sz="5400" b="1" dirty="0">
                <a:latin typeface="BIZ UDPゴシック" panose="020B0400000000000000" pitchFamily="50" charset="-128"/>
                <a:ea typeface="BIZ UDPゴシック" panose="020B0400000000000000" pitchFamily="50" charset="-128"/>
              </a:rPr>
              <a:t>モデル比較の設計</a:t>
            </a:r>
          </a:p>
        </p:txBody>
      </p:sp>
      <p:sp>
        <p:nvSpPr>
          <p:cNvPr id="3" name="テキスト ボックス 2">
            <a:extLst>
              <a:ext uri="{FF2B5EF4-FFF2-40B4-BE49-F238E27FC236}">
                <a16:creationId xmlns:a16="http://schemas.microsoft.com/office/drawing/2014/main" id="{1E940177-3AAB-9032-D659-6CC37021CB37}"/>
              </a:ext>
            </a:extLst>
          </p:cNvPr>
          <p:cNvSpPr txBox="1"/>
          <p:nvPr/>
        </p:nvSpPr>
        <p:spPr>
          <a:xfrm>
            <a:off x="838200" y="1690688"/>
            <a:ext cx="4515980" cy="584775"/>
          </a:xfrm>
          <a:prstGeom prst="rect">
            <a:avLst/>
          </a:prstGeom>
          <a:noFill/>
        </p:spPr>
        <p:txBody>
          <a:bodyPr wrap="none" rtlCol="0">
            <a:spAutoFit/>
          </a:bodyPr>
          <a:lstStyle/>
          <a:p>
            <a:r>
              <a:rPr kumimoji="1" lang="en-US" altLang="ja-JP" sz="3200" dirty="0"/>
              <a:t>7</a:t>
            </a:r>
            <a:r>
              <a:rPr kumimoji="1" lang="ja-JP" altLang="en-US" sz="3200" dirty="0"/>
              <a:t>つのモデルを比較する</a:t>
            </a:r>
          </a:p>
        </p:txBody>
      </p:sp>
      <p:pic>
        <p:nvPicPr>
          <p:cNvPr id="5" name="図 4">
            <a:extLst>
              <a:ext uri="{FF2B5EF4-FFF2-40B4-BE49-F238E27FC236}">
                <a16:creationId xmlns:a16="http://schemas.microsoft.com/office/drawing/2014/main" id="{853A1BA5-48D8-A183-5B08-ACA43042C3D9}"/>
              </a:ext>
            </a:extLst>
          </p:cNvPr>
          <p:cNvPicPr>
            <a:picLocks noChangeAspect="1"/>
          </p:cNvPicPr>
          <p:nvPr/>
        </p:nvPicPr>
        <p:blipFill>
          <a:blip r:embed="rId3"/>
          <a:srcRect/>
          <a:stretch>
            <a:fillRect/>
          </a:stretch>
        </p:blipFill>
        <p:spPr>
          <a:xfrm>
            <a:off x="1508554" y="3601026"/>
            <a:ext cx="9174891" cy="2687321"/>
          </a:xfrm>
          <a:prstGeom prst="rect">
            <a:avLst/>
          </a:prstGeom>
          <a:ln>
            <a:noFill/>
          </a:ln>
          <a:effectLst>
            <a:outerShdw blurRad="292100" dist="139700" dir="2700000" algn="tl" rotWithShape="0">
              <a:srgbClr val="333333">
                <a:alpha val="65000"/>
              </a:srgbClr>
            </a:outerShdw>
          </a:effectLst>
        </p:spPr>
      </p:pic>
      <p:sp>
        <p:nvSpPr>
          <p:cNvPr id="6" name="テキスト ボックス 5">
            <a:extLst>
              <a:ext uri="{FF2B5EF4-FFF2-40B4-BE49-F238E27FC236}">
                <a16:creationId xmlns:a16="http://schemas.microsoft.com/office/drawing/2014/main" id="{02529B82-A4DC-727A-E760-218D39E75E3E}"/>
              </a:ext>
            </a:extLst>
          </p:cNvPr>
          <p:cNvSpPr txBox="1"/>
          <p:nvPr/>
        </p:nvSpPr>
        <p:spPr>
          <a:xfrm>
            <a:off x="2464235" y="2770029"/>
            <a:ext cx="7263527" cy="830997"/>
          </a:xfrm>
          <a:prstGeom prst="rect">
            <a:avLst/>
          </a:prstGeom>
          <a:noFill/>
        </p:spPr>
        <p:txBody>
          <a:bodyPr wrap="square" rtlCol="0">
            <a:noAutofit/>
          </a:bodyPr>
          <a:lstStyle/>
          <a:p>
            <a:r>
              <a:rPr lang="ja-JP" altLang="ja-JP" sz="1800" dirty="0"/>
              <a:t>電力の過去系列のみで条件を統一、</a:t>
            </a:r>
            <a:endParaRPr lang="en-US" altLang="ja-JP" sz="2400" dirty="0"/>
          </a:p>
          <a:p>
            <a:r>
              <a:rPr lang="ja-JP" altLang="ja-JP" sz="1800" dirty="0"/>
              <a:t>+covariateだけが運用シグナル</a:t>
            </a:r>
            <a:r>
              <a:rPr lang="en-US" altLang="ja-JP" sz="1800" dirty="0"/>
              <a:t>（</a:t>
            </a:r>
            <a:r>
              <a:rPr lang="ja-JP" altLang="en-US" sz="1800" dirty="0"/>
              <a:t>電力以外の情報</a:t>
            </a:r>
            <a:r>
              <a:rPr lang="en-US" altLang="ja-JP" sz="1800" dirty="0"/>
              <a:t>）</a:t>
            </a:r>
            <a:r>
              <a:rPr lang="ja-JP" altLang="ja-JP" sz="1800" dirty="0"/>
              <a:t>を追加</a:t>
            </a:r>
          </a:p>
        </p:txBody>
      </p:sp>
      <p:sp>
        <p:nvSpPr>
          <p:cNvPr id="7" name="スライド番号プレースホルダー 6">
            <a:extLst>
              <a:ext uri="{FF2B5EF4-FFF2-40B4-BE49-F238E27FC236}">
                <a16:creationId xmlns:a16="http://schemas.microsoft.com/office/drawing/2014/main" id="{0C9AD8A0-DB6D-1FD7-C927-B50904787946}"/>
              </a:ext>
            </a:extLst>
          </p:cNvPr>
          <p:cNvSpPr>
            <a:spLocks noGrp="1"/>
          </p:cNvSpPr>
          <p:nvPr>
            <p:ph type="sldNum" sz="quarter" idx="12"/>
          </p:nvPr>
        </p:nvSpPr>
        <p:spPr/>
        <p:txBody>
          <a:bodyPr/>
          <a:lstStyle/>
          <a:p>
            <a:fld id="{C636472C-77F3-4730-9E58-470BC344D402}" type="slidenum">
              <a:rPr kumimoji="1" lang="ja-JP" altLang="en-US" sz="3200" smtClean="0"/>
              <a:t>6</a:t>
            </a:fld>
            <a:endParaRPr kumimoji="1" lang="ja-JP" altLang="en-US" sz="3200" dirty="0"/>
          </a:p>
        </p:txBody>
      </p:sp>
    </p:spTree>
    <p:extLst>
      <p:ext uri="{BB962C8B-B14F-4D97-AF65-F5344CB8AC3E}">
        <p14:creationId xmlns:p14="http://schemas.microsoft.com/office/powerpoint/2010/main" val="1369978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43BF8F-A301-F197-9AC2-A2BCA535244F}"/>
              </a:ext>
            </a:extLst>
          </p:cNvPr>
          <p:cNvSpPr>
            <a:spLocks noGrp="1"/>
          </p:cNvSpPr>
          <p:nvPr>
            <p:ph type="title"/>
          </p:nvPr>
        </p:nvSpPr>
        <p:spPr/>
        <p:txBody>
          <a:bodyPr>
            <a:normAutofit/>
          </a:bodyPr>
          <a:lstStyle/>
          <a:p>
            <a:r>
              <a:rPr lang="ja-JP" altLang="en-US" sz="5400" b="1" dirty="0">
                <a:latin typeface="BIZ UDPゴシック" panose="020B0400000000000000" pitchFamily="50" charset="-128"/>
                <a:ea typeface="BIZ UDPゴシック" panose="020B0400000000000000" pitchFamily="50" charset="-128"/>
              </a:rPr>
              <a:t>実装するアーキテクチャ</a:t>
            </a:r>
            <a:endParaRPr kumimoji="1" lang="ja-JP" altLang="en-US" sz="5400" b="1" dirty="0">
              <a:latin typeface="BIZ UDPゴシック" panose="020B0400000000000000" pitchFamily="50" charset="-128"/>
              <a:ea typeface="BIZ UDPゴシック" panose="020B0400000000000000" pitchFamily="50" charset="-128"/>
            </a:endParaRPr>
          </a:p>
        </p:txBody>
      </p:sp>
      <p:sp>
        <p:nvSpPr>
          <p:cNvPr id="5" name="四角形: 角を丸くする 4">
            <a:extLst>
              <a:ext uri="{FF2B5EF4-FFF2-40B4-BE49-F238E27FC236}">
                <a16:creationId xmlns:a16="http://schemas.microsoft.com/office/drawing/2014/main" id="{2D7F90C9-8EA9-00BB-BFCC-8D58F7E4D2D7}"/>
              </a:ext>
            </a:extLst>
          </p:cNvPr>
          <p:cNvSpPr/>
          <p:nvPr/>
        </p:nvSpPr>
        <p:spPr>
          <a:xfrm>
            <a:off x="6446520" y="1690688"/>
            <a:ext cx="5132832" cy="4718304"/>
          </a:xfrm>
          <a:prstGeom prst="roundRect">
            <a:avLst/>
          </a:prstGeom>
          <a:solidFill>
            <a:schemeClr val="tx2">
              <a:lumMod val="10000"/>
              <a:lumOff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 name="四角形: 角を丸くする 6">
            <a:extLst>
              <a:ext uri="{FF2B5EF4-FFF2-40B4-BE49-F238E27FC236}">
                <a16:creationId xmlns:a16="http://schemas.microsoft.com/office/drawing/2014/main" id="{D739F939-EC61-3BB9-0B15-1B9890B21457}"/>
              </a:ext>
            </a:extLst>
          </p:cNvPr>
          <p:cNvSpPr/>
          <p:nvPr/>
        </p:nvSpPr>
        <p:spPr>
          <a:xfrm>
            <a:off x="612648" y="1690688"/>
            <a:ext cx="5132832" cy="4718304"/>
          </a:xfrm>
          <a:prstGeom prst="roundRect">
            <a:avLst/>
          </a:prstGeom>
          <a:solidFill>
            <a:schemeClr val="accent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テキスト ボックス 8">
            <a:extLst>
              <a:ext uri="{FF2B5EF4-FFF2-40B4-BE49-F238E27FC236}">
                <a16:creationId xmlns:a16="http://schemas.microsoft.com/office/drawing/2014/main" id="{227C0115-5AF5-FD5A-7046-2CC76A9BC14E}"/>
              </a:ext>
            </a:extLst>
          </p:cNvPr>
          <p:cNvSpPr txBox="1"/>
          <p:nvPr/>
        </p:nvSpPr>
        <p:spPr>
          <a:xfrm>
            <a:off x="964624" y="2011680"/>
            <a:ext cx="3211135" cy="954107"/>
          </a:xfrm>
          <a:prstGeom prst="rect">
            <a:avLst/>
          </a:prstGeom>
          <a:noFill/>
        </p:spPr>
        <p:txBody>
          <a:bodyPr wrap="none" rtlCol="0">
            <a:spAutoFit/>
          </a:bodyPr>
          <a:lstStyle/>
          <a:p>
            <a:r>
              <a:rPr kumimoji="1" lang="en-US" altLang="ja-JP" sz="2800" b="1" dirty="0"/>
              <a:t>Chronos-bolt</a:t>
            </a:r>
          </a:p>
          <a:p>
            <a:r>
              <a:rPr lang="en-US" altLang="ja-JP" sz="2800" b="1" dirty="0"/>
              <a:t>-</a:t>
            </a:r>
            <a:r>
              <a:rPr lang="ja-JP" altLang="en-US" sz="2800" b="1" dirty="0"/>
              <a:t>時系列基盤モデル</a:t>
            </a:r>
            <a:endParaRPr lang="en-US" altLang="ja-JP" sz="2800" b="1" dirty="0"/>
          </a:p>
        </p:txBody>
      </p:sp>
      <p:sp>
        <p:nvSpPr>
          <p:cNvPr id="11" name="テキスト ボックス 10">
            <a:extLst>
              <a:ext uri="{FF2B5EF4-FFF2-40B4-BE49-F238E27FC236}">
                <a16:creationId xmlns:a16="http://schemas.microsoft.com/office/drawing/2014/main" id="{A35986D1-48C2-B2BC-59EE-4D26BDA356BD}"/>
              </a:ext>
            </a:extLst>
          </p:cNvPr>
          <p:cNvSpPr txBox="1"/>
          <p:nvPr/>
        </p:nvSpPr>
        <p:spPr>
          <a:xfrm>
            <a:off x="6781800" y="2011679"/>
            <a:ext cx="3929281" cy="954107"/>
          </a:xfrm>
          <a:prstGeom prst="rect">
            <a:avLst/>
          </a:prstGeom>
          <a:noFill/>
        </p:spPr>
        <p:txBody>
          <a:bodyPr wrap="none" rtlCol="0">
            <a:spAutoFit/>
          </a:bodyPr>
          <a:lstStyle/>
          <a:p>
            <a:r>
              <a:rPr lang="en-US" altLang="ja-JP" sz="2800" b="1" dirty="0" err="1"/>
              <a:t>LightGBM</a:t>
            </a:r>
            <a:endParaRPr kumimoji="1" lang="en-US" altLang="ja-JP" sz="2800" b="1" dirty="0"/>
          </a:p>
          <a:p>
            <a:r>
              <a:rPr lang="en-US" altLang="ja-JP" sz="2800" b="1" dirty="0"/>
              <a:t>-</a:t>
            </a:r>
            <a:r>
              <a:rPr lang="ja-JP" altLang="en-US" sz="2800" b="1" dirty="0"/>
              <a:t>勾配ブースティング木</a:t>
            </a:r>
            <a:endParaRPr kumimoji="1" lang="ja-JP" altLang="en-US" sz="2800" b="1" dirty="0"/>
          </a:p>
        </p:txBody>
      </p:sp>
      <p:sp>
        <p:nvSpPr>
          <p:cNvPr id="12" name="テキスト ボックス 11">
            <a:extLst>
              <a:ext uri="{FF2B5EF4-FFF2-40B4-BE49-F238E27FC236}">
                <a16:creationId xmlns:a16="http://schemas.microsoft.com/office/drawing/2014/main" id="{A46546CF-0FBE-09F8-76C2-14FD19F7790E}"/>
              </a:ext>
            </a:extLst>
          </p:cNvPr>
          <p:cNvSpPr txBox="1"/>
          <p:nvPr/>
        </p:nvSpPr>
        <p:spPr>
          <a:xfrm>
            <a:off x="731621" y="3429000"/>
            <a:ext cx="4801314" cy="2308324"/>
          </a:xfrm>
          <a:prstGeom prst="rect">
            <a:avLst/>
          </a:prstGeom>
          <a:noFill/>
        </p:spPr>
        <p:txBody>
          <a:bodyPr wrap="none" rtlCol="0">
            <a:spAutoFit/>
          </a:bodyPr>
          <a:lstStyle/>
          <a:p>
            <a:r>
              <a:rPr lang="ja-JP" altLang="ja-JP" sz="2400" dirty="0"/>
              <a:t>大量・多様な時系列データで</a:t>
            </a:r>
            <a:endParaRPr lang="en-US" altLang="ja-JP" sz="2400" dirty="0"/>
          </a:p>
          <a:p>
            <a:r>
              <a:rPr lang="ja-JP" altLang="ja-JP" sz="2400" dirty="0"/>
              <a:t>事前学習済み</a:t>
            </a:r>
            <a:endParaRPr lang="en-US" altLang="ja-JP" sz="2400" dirty="0"/>
          </a:p>
          <a:p>
            <a:r>
              <a:rPr lang="ja-JP" altLang="ja-JP" sz="2400" dirty="0"/>
              <a:t>富岳データでの追加学習は</a:t>
            </a:r>
            <a:endParaRPr lang="en-US" altLang="ja-JP" sz="2400" dirty="0"/>
          </a:p>
          <a:p>
            <a:r>
              <a:rPr lang="ja-JP" altLang="ja-JP" sz="2400" dirty="0"/>
              <a:t>一切せず、直近の消費電力の推移</a:t>
            </a:r>
            <a:endParaRPr lang="en-US" altLang="ja-JP" sz="2400" dirty="0"/>
          </a:p>
          <a:p>
            <a:r>
              <a:rPr lang="ja-JP" altLang="ja-JP" sz="2400" dirty="0"/>
              <a:t>だけを見て先を予測する</a:t>
            </a:r>
            <a:endParaRPr lang="en-US" altLang="ja-JP" sz="2400" dirty="0"/>
          </a:p>
          <a:p>
            <a:r>
              <a:rPr kumimoji="1" lang="en-US" altLang="ja-JP" sz="2400" dirty="0"/>
              <a:t>(zero-shot)</a:t>
            </a:r>
            <a:endParaRPr kumimoji="1" lang="ja-JP" altLang="en-US" sz="2400" dirty="0"/>
          </a:p>
        </p:txBody>
      </p:sp>
      <p:sp>
        <p:nvSpPr>
          <p:cNvPr id="14" name="テキスト ボックス 13">
            <a:extLst>
              <a:ext uri="{FF2B5EF4-FFF2-40B4-BE49-F238E27FC236}">
                <a16:creationId xmlns:a16="http://schemas.microsoft.com/office/drawing/2014/main" id="{32EE6552-7819-9E82-C772-08708B39D2B5}"/>
              </a:ext>
            </a:extLst>
          </p:cNvPr>
          <p:cNvSpPr txBox="1"/>
          <p:nvPr/>
        </p:nvSpPr>
        <p:spPr>
          <a:xfrm>
            <a:off x="6565493" y="3429000"/>
            <a:ext cx="4801314" cy="1569660"/>
          </a:xfrm>
          <a:prstGeom prst="rect">
            <a:avLst/>
          </a:prstGeom>
          <a:noFill/>
        </p:spPr>
        <p:txBody>
          <a:bodyPr wrap="none" rtlCol="0">
            <a:spAutoFit/>
          </a:bodyPr>
          <a:lstStyle/>
          <a:p>
            <a:r>
              <a:rPr lang="ja-JP" altLang="ja-JP" sz="2400" dirty="0"/>
              <a:t>小さな決定木を大量に重ね、前の</a:t>
            </a:r>
            <a:endParaRPr lang="en-US" altLang="ja-JP" sz="2400" dirty="0"/>
          </a:p>
          <a:p>
            <a:r>
              <a:rPr lang="ja-JP" altLang="ja-JP" sz="2400" dirty="0"/>
              <a:t>木の誤差を次の木が修正していく</a:t>
            </a:r>
            <a:endParaRPr lang="en-US" altLang="ja-JP" sz="2400" dirty="0"/>
          </a:p>
          <a:p>
            <a:r>
              <a:rPr lang="ja-JP" altLang="ja-JP" sz="2400" dirty="0"/>
              <a:t>方式</a:t>
            </a:r>
            <a:endParaRPr lang="en-US" altLang="ja-JP" sz="2400" dirty="0"/>
          </a:p>
          <a:p>
            <a:r>
              <a:rPr lang="ja-JP" altLang="ja-JP" sz="2400" dirty="0"/>
              <a:t>非常に高速かつ省メモリ</a:t>
            </a:r>
            <a:endParaRPr lang="en-US" altLang="ja-JP" sz="2400" dirty="0"/>
          </a:p>
        </p:txBody>
      </p:sp>
      <p:sp>
        <p:nvSpPr>
          <p:cNvPr id="15" name="スライド番号プレースホルダー 14">
            <a:extLst>
              <a:ext uri="{FF2B5EF4-FFF2-40B4-BE49-F238E27FC236}">
                <a16:creationId xmlns:a16="http://schemas.microsoft.com/office/drawing/2014/main" id="{396EBB94-B54C-838B-136A-07AE306E9170}"/>
              </a:ext>
            </a:extLst>
          </p:cNvPr>
          <p:cNvSpPr>
            <a:spLocks noGrp="1"/>
          </p:cNvSpPr>
          <p:nvPr>
            <p:ph type="sldNum" sz="quarter" idx="12"/>
          </p:nvPr>
        </p:nvSpPr>
        <p:spPr/>
        <p:txBody>
          <a:bodyPr/>
          <a:lstStyle/>
          <a:p>
            <a:fld id="{C636472C-77F3-4730-9E58-470BC344D402}" type="slidenum">
              <a:rPr kumimoji="1" lang="ja-JP" altLang="en-US" sz="3200" smtClean="0"/>
              <a:t>7</a:t>
            </a:fld>
            <a:endParaRPr kumimoji="1" lang="ja-JP" altLang="en-US" sz="3200" dirty="0"/>
          </a:p>
        </p:txBody>
      </p:sp>
    </p:spTree>
    <p:extLst>
      <p:ext uri="{BB962C8B-B14F-4D97-AF65-F5344CB8AC3E}">
        <p14:creationId xmlns:p14="http://schemas.microsoft.com/office/powerpoint/2010/main" val="1154917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024CA3-3DA3-07D3-2EAC-B201C8BBCF7B}"/>
              </a:ext>
            </a:extLst>
          </p:cNvPr>
          <p:cNvSpPr>
            <a:spLocks noGrp="1"/>
          </p:cNvSpPr>
          <p:nvPr>
            <p:ph type="title"/>
          </p:nvPr>
        </p:nvSpPr>
        <p:spPr/>
        <p:txBody>
          <a:bodyPr>
            <a:normAutofit/>
          </a:bodyPr>
          <a:lstStyle/>
          <a:p>
            <a:r>
              <a:rPr kumimoji="1" lang="ja-JP" altLang="en-US" sz="5400" b="1" dirty="0">
                <a:latin typeface="BIZ UDPゴシック" panose="020B0400000000000000" pitchFamily="50" charset="-128"/>
                <a:ea typeface="BIZ UDPゴシック" panose="020B0400000000000000" pitchFamily="50" charset="-128"/>
              </a:rPr>
              <a:t>実装するアーキテクチャ</a:t>
            </a:r>
          </a:p>
        </p:txBody>
      </p:sp>
      <p:sp>
        <p:nvSpPr>
          <p:cNvPr id="10" name="四角形: 角を丸くする 9">
            <a:extLst>
              <a:ext uri="{FF2B5EF4-FFF2-40B4-BE49-F238E27FC236}">
                <a16:creationId xmlns:a16="http://schemas.microsoft.com/office/drawing/2014/main" id="{EFD6A6BF-C73E-C1FF-BFEC-F8EEF5E5DE25}"/>
              </a:ext>
            </a:extLst>
          </p:cNvPr>
          <p:cNvSpPr/>
          <p:nvPr/>
        </p:nvSpPr>
        <p:spPr>
          <a:xfrm>
            <a:off x="612648" y="1690688"/>
            <a:ext cx="5132832" cy="4718304"/>
          </a:xfrm>
          <a:prstGeom prst="roundRect">
            <a:avLst/>
          </a:prstGeom>
          <a:solidFill>
            <a:schemeClr val="tx2">
              <a:lumMod val="10000"/>
              <a:lumOff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 name="テキスト ボックス 11">
            <a:extLst>
              <a:ext uri="{FF2B5EF4-FFF2-40B4-BE49-F238E27FC236}">
                <a16:creationId xmlns:a16="http://schemas.microsoft.com/office/drawing/2014/main" id="{5B250C87-56C3-3132-C8E0-2929FE571261}"/>
              </a:ext>
            </a:extLst>
          </p:cNvPr>
          <p:cNvSpPr txBox="1"/>
          <p:nvPr/>
        </p:nvSpPr>
        <p:spPr>
          <a:xfrm>
            <a:off x="950976" y="2011680"/>
            <a:ext cx="1510350" cy="954107"/>
          </a:xfrm>
          <a:prstGeom prst="rect">
            <a:avLst/>
          </a:prstGeom>
          <a:noFill/>
        </p:spPr>
        <p:txBody>
          <a:bodyPr wrap="none" rtlCol="0">
            <a:spAutoFit/>
          </a:bodyPr>
          <a:lstStyle/>
          <a:p>
            <a:r>
              <a:rPr lang="en-US" altLang="ja-JP" sz="2800" b="1" dirty="0"/>
              <a:t>LSTM</a:t>
            </a:r>
            <a:endParaRPr kumimoji="1" lang="en-US" altLang="ja-JP" sz="2800" b="1" dirty="0"/>
          </a:p>
          <a:p>
            <a:r>
              <a:rPr lang="en-US" altLang="ja-JP" sz="2800" b="1" dirty="0"/>
              <a:t>-RNN</a:t>
            </a:r>
            <a:r>
              <a:rPr lang="ja-JP" altLang="en-US" sz="2800" b="1" dirty="0"/>
              <a:t>系</a:t>
            </a:r>
            <a:endParaRPr lang="en-US" altLang="ja-JP" sz="2800" b="1" dirty="0"/>
          </a:p>
        </p:txBody>
      </p:sp>
      <p:sp>
        <p:nvSpPr>
          <p:cNvPr id="14" name="テキスト ボックス 13">
            <a:extLst>
              <a:ext uri="{FF2B5EF4-FFF2-40B4-BE49-F238E27FC236}">
                <a16:creationId xmlns:a16="http://schemas.microsoft.com/office/drawing/2014/main" id="{A07FA18D-BCF2-8AD8-1743-A7CD52038612}"/>
              </a:ext>
            </a:extLst>
          </p:cNvPr>
          <p:cNvSpPr txBox="1"/>
          <p:nvPr/>
        </p:nvSpPr>
        <p:spPr>
          <a:xfrm>
            <a:off x="692068" y="3429000"/>
            <a:ext cx="5109091" cy="1569660"/>
          </a:xfrm>
          <a:prstGeom prst="rect">
            <a:avLst/>
          </a:prstGeom>
          <a:noFill/>
        </p:spPr>
        <p:txBody>
          <a:bodyPr wrap="none" rtlCol="0">
            <a:spAutoFit/>
          </a:bodyPr>
          <a:lstStyle/>
          <a:p>
            <a:r>
              <a:rPr lang="ja-JP" altLang="ja-JP" sz="2400" dirty="0"/>
              <a:t>文章や時系列データのように、</a:t>
            </a:r>
            <a:endParaRPr lang="en-US" altLang="ja-JP" sz="2400" dirty="0"/>
          </a:p>
          <a:p>
            <a:r>
              <a:rPr lang="ja-JP" altLang="ja-JP" sz="2400" dirty="0"/>
              <a:t>順番に意味がある情報を扱うための</a:t>
            </a:r>
            <a:endParaRPr lang="en-US" altLang="ja-JP" sz="2400" dirty="0"/>
          </a:p>
          <a:p>
            <a:r>
              <a:rPr lang="ja-JP" altLang="ja-JP" sz="2400" dirty="0"/>
              <a:t>ニューラルネットワーク</a:t>
            </a:r>
            <a:r>
              <a:rPr lang="ja-JP" altLang="en-US" sz="2400" dirty="0"/>
              <a:t>モデル</a:t>
            </a:r>
            <a:endParaRPr lang="en-US" altLang="ja-JP" sz="2400" dirty="0"/>
          </a:p>
          <a:p>
            <a:endParaRPr lang="en-US" altLang="ja-JP" sz="2400" dirty="0"/>
          </a:p>
        </p:txBody>
      </p:sp>
      <p:sp>
        <p:nvSpPr>
          <p:cNvPr id="16" name="四角形: 角を丸くする 15">
            <a:extLst>
              <a:ext uri="{FF2B5EF4-FFF2-40B4-BE49-F238E27FC236}">
                <a16:creationId xmlns:a16="http://schemas.microsoft.com/office/drawing/2014/main" id="{E9B03DA8-08E4-12E1-D617-C90CE6EDFFAF}"/>
              </a:ext>
            </a:extLst>
          </p:cNvPr>
          <p:cNvSpPr/>
          <p:nvPr/>
        </p:nvSpPr>
        <p:spPr>
          <a:xfrm>
            <a:off x="6446522" y="1690688"/>
            <a:ext cx="5132832" cy="4718304"/>
          </a:xfrm>
          <a:prstGeom prst="roundRect">
            <a:avLst/>
          </a:prstGeom>
          <a:solidFill>
            <a:schemeClr val="tx2">
              <a:lumMod val="10000"/>
              <a:lumOff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 name="テキスト ボックス 17">
            <a:extLst>
              <a:ext uri="{FF2B5EF4-FFF2-40B4-BE49-F238E27FC236}">
                <a16:creationId xmlns:a16="http://schemas.microsoft.com/office/drawing/2014/main" id="{BEA8D41E-9C41-9943-DE0A-98C05DD77779}"/>
              </a:ext>
            </a:extLst>
          </p:cNvPr>
          <p:cNvSpPr txBox="1"/>
          <p:nvPr/>
        </p:nvSpPr>
        <p:spPr>
          <a:xfrm>
            <a:off x="6784850" y="2011680"/>
            <a:ext cx="2323072" cy="954107"/>
          </a:xfrm>
          <a:prstGeom prst="rect">
            <a:avLst/>
          </a:prstGeom>
          <a:noFill/>
        </p:spPr>
        <p:txBody>
          <a:bodyPr wrap="none" rtlCol="0">
            <a:spAutoFit/>
          </a:bodyPr>
          <a:lstStyle/>
          <a:p>
            <a:r>
              <a:rPr lang="en-US" altLang="ja-JP" sz="2800" b="1" dirty="0"/>
              <a:t>TFT-lite</a:t>
            </a:r>
            <a:endParaRPr kumimoji="1" lang="en-US" altLang="ja-JP" sz="2800" b="1" dirty="0"/>
          </a:p>
          <a:p>
            <a:r>
              <a:rPr lang="en-US" altLang="ja-JP" sz="2800" b="1" dirty="0"/>
              <a:t>-Attention</a:t>
            </a:r>
            <a:r>
              <a:rPr lang="ja-JP" altLang="en-US" sz="2800" b="1" dirty="0"/>
              <a:t>系</a:t>
            </a:r>
            <a:endParaRPr lang="en-US" altLang="ja-JP" sz="2800" b="1" dirty="0"/>
          </a:p>
        </p:txBody>
      </p:sp>
      <p:sp>
        <p:nvSpPr>
          <p:cNvPr id="20" name="テキスト ボックス 19">
            <a:extLst>
              <a:ext uri="{FF2B5EF4-FFF2-40B4-BE49-F238E27FC236}">
                <a16:creationId xmlns:a16="http://schemas.microsoft.com/office/drawing/2014/main" id="{F25EC842-2449-FA9F-C16E-0DDA526C1983}"/>
              </a:ext>
            </a:extLst>
          </p:cNvPr>
          <p:cNvSpPr txBox="1"/>
          <p:nvPr/>
        </p:nvSpPr>
        <p:spPr>
          <a:xfrm>
            <a:off x="6536574" y="3429000"/>
            <a:ext cx="4801314" cy="1938992"/>
          </a:xfrm>
          <a:prstGeom prst="rect">
            <a:avLst/>
          </a:prstGeom>
          <a:noFill/>
        </p:spPr>
        <p:txBody>
          <a:bodyPr wrap="none" rtlCol="0">
            <a:spAutoFit/>
          </a:bodyPr>
          <a:lstStyle/>
          <a:p>
            <a:r>
              <a:rPr lang="ja-JP" altLang="ja-JP" sz="2400" dirty="0"/>
              <a:t>Chronosと同じTransformer系の</a:t>
            </a:r>
            <a:endParaRPr lang="en-US" altLang="ja-JP" sz="2400" dirty="0"/>
          </a:p>
          <a:p>
            <a:r>
              <a:rPr lang="ja-JP" altLang="ja-JP" sz="2400" dirty="0"/>
              <a:t>仕組みだが、富岳データのみで</a:t>
            </a:r>
            <a:endParaRPr lang="en-US" altLang="ja-JP" sz="2400" dirty="0"/>
          </a:p>
          <a:p>
            <a:r>
              <a:rPr lang="ja-JP" altLang="ja-JP" sz="2400" dirty="0"/>
              <a:t>ゼロから学習する</a:t>
            </a:r>
            <a:endParaRPr lang="en-US" altLang="ja-JP" sz="2400" dirty="0"/>
          </a:p>
          <a:p>
            <a:r>
              <a:rPr lang="ja-JP" altLang="ja-JP" sz="2400" dirty="0"/>
              <a:t>どの過去時点・どの特徴量に注目</a:t>
            </a:r>
            <a:endParaRPr lang="en-US" altLang="ja-JP" sz="2400" dirty="0"/>
          </a:p>
          <a:p>
            <a:r>
              <a:rPr lang="ja-JP" altLang="ja-JP" sz="2400" dirty="0"/>
              <a:t>すべきかを自動的に重み付けする</a:t>
            </a:r>
            <a:endParaRPr kumimoji="1" lang="ja-JP" altLang="en-US" sz="2400" dirty="0"/>
          </a:p>
        </p:txBody>
      </p:sp>
      <p:sp>
        <p:nvSpPr>
          <p:cNvPr id="21" name="スライド番号プレースホルダー 20">
            <a:extLst>
              <a:ext uri="{FF2B5EF4-FFF2-40B4-BE49-F238E27FC236}">
                <a16:creationId xmlns:a16="http://schemas.microsoft.com/office/drawing/2014/main" id="{647B2F07-A344-C131-7136-54AAD177943D}"/>
              </a:ext>
            </a:extLst>
          </p:cNvPr>
          <p:cNvSpPr>
            <a:spLocks noGrp="1"/>
          </p:cNvSpPr>
          <p:nvPr>
            <p:ph type="sldNum" sz="quarter" idx="12"/>
          </p:nvPr>
        </p:nvSpPr>
        <p:spPr/>
        <p:txBody>
          <a:bodyPr/>
          <a:lstStyle/>
          <a:p>
            <a:fld id="{C636472C-77F3-4730-9E58-470BC344D402}" type="slidenum">
              <a:rPr kumimoji="1" lang="ja-JP" altLang="en-US" sz="3200" smtClean="0"/>
              <a:t>8</a:t>
            </a:fld>
            <a:endParaRPr kumimoji="1" lang="ja-JP" altLang="en-US" sz="3200" dirty="0"/>
          </a:p>
        </p:txBody>
      </p:sp>
    </p:spTree>
    <p:extLst>
      <p:ext uri="{BB962C8B-B14F-4D97-AF65-F5344CB8AC3E}">
        <p14:creationId xmlns:p14="http://schemas.microsoft.com/office/powerpoint/2010/main" val="38270124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EBC1219-B97D-BE80-99C0-758D0458751A}"/>
              </a:ext>
            </a:extLst>
          </p:cNvPr>
          <p:cNvSpPr>
            <a:spLocks noGrp="1"/>
          </p:cNvSpPr>
          <p:nvPr>
            <p:ph type="title"/>
          </p:nvPr>
        </p:nvSpPr>
        <p:spPr/>
        <p:txBody>
          <a:bodyPr>
            <a:normAutofit/>
          </a:bodyPr>
          <a:lstStyle/>
          <a:p>
            <a:r>
              <a:rPr lang="en-US" altLang="ja-JP" sz="5400" b="1" dirty="0">
                <a:latin typeface="BIZ UDPゴシック" panose="020B0400000000000000" pitchFamily="50" charset="-128"/>
                <a:ea typeface="BIZ UDPゴシック" panose="020B0400000000000000" pitchFamily="50" charset="-128"/>
              </a:rPr>
              <a:t>test</a:t>
            </a:r>
            <a:r>
              <a:rPr lang="ja-JP" altLang="en-US" sz="5400" b="1" dirty="0">
                <a:latin typeface="BIZ UDPゴシック" panose="020B0400000000000000" pitchFamily="50" charset="-128"/>
                <a:ea typeface="BIZ UDPゴシック" panose="020B0400000000000000" pitchFamily="50" charset="-128"/>
              </a:rPr>
              <a:t>全体の</a:t>
            </a:r>
            <a:r>
              <a:rPr kumimoji="1" lang="ja-JP" altLang="en-US" sz="5400" b="1" dirty="0">
                <a:latin typeface="BIZ UDPゴシック" panose="020B0400000000000000" pitchFamily="50" charset="-128"/>
                <a:ea typeface="BIZ UDPゴシック" panose="020B0400000000000000" pitchFamily="50" charset="-128"/>
              </a:rPr>
              <a:t>結果</a:t>
            </a:r>
          </a:p>
        </p:txBody>
      </p:sp>
      <p:pic>
        <p:nvPicPr>
          <p:cNvPr id="4" name="図 3">
            <a:extLst>
              <a:ext uri="{FF2B5EF4-FFF2-40B4-BE49-F238E27FC236}">
                <a16:creationId xmlns:a16="http://schemas.microsoft.com/office/drawing/2014/main" id="{85EDE948-6C5F-0771-DA05-F4363EF0E9FD}"/>
              </a:ext>
            </a:extLst>
          </p:cNvPr>
          <p:cNvPicPr>
            <a:picLocks noChangeAspect="1"/>
          </p:cNvPicPr>
          <p:nvPr/>
        </p:nvPicPr>
        <p:blipFill>
          <a:blip r:embed="rId3"/>
          <a:srcRect/>
          <a:stretch>
            <a:fillRect/>
          </a:stretch>
        </p:blipFill>
        <p:spPr>
          <a:xfrm>
            <a:off x="6462046" y="485791"/>
            <a:ext cx="5486330" cy="5536521"/>
          </a:xfrm>
          <a:prstGeom prst="rect">
            <a:avLst/>
          </a:prstGeom>
        </p:spPr>
      </p:pic>
      <p:sp>
        <p:nvSpPr>
          <p:cNvPr id="5" name="テキスト ボックス 4">
            <a:extLst>
              <a:ext uri="{FF2B5EF4-FFF2-40B4-BE49-F238E27FC236}">
                <a16:creationId xmlns:a16="http://schemas.microsoft.com/office/drawing/2014/main" id="{91A20AFF-980B-0026-0D46-DADA768E8B1F}"/>
              </a:ext>
            </a:extLst>
          </p:cNvPr>
          <p:cNvSpPr txBox="1"/>
          <p:nvPr/>
        </p:nvSpPr>
        <p:spPr>
          <a:xfrm>
            <a:off x="8027368" y="1372953"/>
            <a:ext cx="184731" cy="369332"/>
          </a:xfrm>
          <a:prstGeom prst="rect">
            <a:avLst/>
          </a:prstGeom>
          <a:noFill/>
        </p:spPr>
        <p:txBody>
          <a:bodyPr wrap="none" rtlCol="0">
            <a:spAutoFit/>
          </a:bodyPr>
          <a:lstStyle/>
          <a:p>
            <a:endParaRPr kumimoji="1" lang="ja-JP" altLang="en-US" dirty="0"/>
          </a:p>
        </p:txBody>
      </p:sp>
      <p:sp>
        <p:nvSpPr>
          <p:cNvPr id="9" name="テキスト ボックス 8">
            <a:extLst>
              <a:ext uri="{FF2B5EF4-FFF2-40B4-BE49-F238E27FC236}">
                <a16:creationId xmlns:a16="http://schemas.microsoft.com/office/drawing/2014/main" id="{1A7B1E82-0509-EBA6-4D15-534DEFF2997A}"/>
              </a:ext>
            </a:extLst>
          </p:cNvPr>
          <p:cNvSpPr txBox="1"/>
          <p:nvPr/>
        </p:nvSpPr>
        <p:spPr>
          <a:xfrm>
            <a:off x="397653" y="1903305"/>
            <a:ext cx="5896166" cy="2308324"/>
          </a:xfrm>
          <a:prstGeom prst="rect">
            <a:avLst/>
          </a:prstGeom>
          <a:noFill/>
        </p:spPr>
        <p:txBody>
          <a:bodyPr wrap="none" rtlCol="0">
            <a:spAutoFit/>
          </a:bodyPr>
          <a:lstStyle/>
          <a:p>
            <a:r>
              <a:rPr lang="ja-JP" altLang="ja-JP" sz="2400" dirty="0"/>
              <a:t>学習なしのChronos(zero-shot)が、</a:t>
            </a:r>
            <a:endParaRPr lang="en-US" altLang="ja-JP" sz="2400" dirty="0"/>
          </a:p>
          <a:p>
            <a:r>
              <a:rPr lang="ja-JP" altLang="ja-JP" sz="2400" dirty="0"/>
              <a:t>富岳データだけで訓練した6モデル全てを</a:t>
            </a:r>
            <a:endParaRPr lang="en-US" altLang="ja-JP" sz="2400" dirty="0"/>
          </a:p>
          <a:p>
            <a:r>
              <a:rPr lang="ja-JP" altLang="ja-JP" sz="2400" dirty="0"/>
              <a:t>上回った。</a:t>
            </a:r>
            <a:endParaRPr lang="en-US" altLang="ja-JP" sz="2400" dirty="0"/>
          </a:p>
          <a:p>
            <a:r>
              <a:rPr lang="ja-JP" altLang="ja-JP" sz="2400" dirty="0"/>
              <a:t>ただし最良のML(LightGBM)との差は</a:t>
            </a:r>
            <a:endParaRPr lang="en-US" altLang="ja-JP" sz="2400" dirty="0"/>
          </a:p>
          <a:p>
            <a:r>
              <a:rPr lang="ja-JP" altLang="ja-JP" sz="2400" dirty="0"/>
              <a:t>小さく、7モデルの多くは0.72〜0.75の</a:t>
            </a:r>
            <a:endParaRPr lang="en-US" altLang="ja-JP" sz="2400" dirty="0"/>
          </a:p>
          <a:p>
            <a:r>
              <a:rPr lang="ja-JP" altLang="ja-JP" sz="2400" dirty="0"/>
              <a:t>レンジに集まっている。</a:t>
            </a:r>
            <a:endParaRPr kumimoji="1" lang="ja-JP" altLang="en-US" sz="2400" dirty="0"/>
          </a:p>
        </p:txBody>
      </p:sp>
      <p:sp>
        <p:nvSpPr>
          <p:cNvPr id="12" name="スライド番号プレースホルダー 11">
            <a:extLst>
              <a:ext uri="{FF2B5EF4-FFF2-40B4-BE49-F238E27FC236}">
                <a16:creationId xmlns:a16="http://schemas.microsoft.com/office/drawing/2014/main" id="{359CF44F-B1B5-54D4-543B-B954647C6E06}"/>
              </a:ext>
            </a:extLst>
          </p:cNvPr>
          <p:cNvSpPr>
            <a:spLocks noGrp="1"/>
          </p:cNvSpPr>
          <p:nvPr>
            <p:ph type="sldNum" sz="quarter" idx="12"/>
          </p:nvPr>
        </p:nvSpPr>
        <p:spPr>
          <a:xfrm>
            <a:off x="8610600" y="6368867"/>
            <a:ext cx="2743200" cy="365125"/>
          </a:xfrm>
        </p:spPr>
        <p:txBody>
          <a:bodyPr/>
          <a:lstStyle/>
          <a:p>
            <a:fld id="{C636472C-77F3-4730-9E58-470BC344D402}" type="slidenum">
              <a:rPr kumimoji="1" lang="ja-JP" altLang="en-US" sz="3200" smtClean="0"/>
              <a:t>9</a:t>
            </a:fld>
            <a:endParaRPr kumimoji="1" lang="ja-JP" altLang="en-US" sz="3200" dirty="0"/>
          </a:p>
        </p:txBody>
      </p:sp>
      <p:sp>
        <p:nvSpPr>
          <p:cNvPr id="3" name="テキスト ボックス 2">
            <a:extLst>
              <a:ext uri="{FF2B5EF4-FFF2-40B4-BE49-F238E27FC236}">
                <a16:creationId xmlns:a16="http://schemas.microsoft.com/office/drawing/2014/main" id="{F9281E04-C8F1-3427-F470-DEB170C87F8E}"/>
              </a:ext>
            </a:extLst>
          </p:cNvPr>
          <p:cNvSpPr txBox="1"/>
          <p:nvPr/>
        </p:nvSpPr>
        <p:spPr>
          <a:xfrm>
            <a:off x="324501" y="5525833"/>
            <a:ext cx="5243743" cy="646331"/>
          </a:xfrm>
          <a:prstGeom prst="rect">
            <a:avLst/>
          </a:prstGeom>
          <a:noFill/>
        </p:spPr>
        <p:txBody>
          <a:bodyPr wrap="none" rtlCol="0">
            <a:spAutoFit/>
          </a:bodyPr>
          <a:lstStyle/>
          <a:p>
            <a:r>
              <a:rPr lang="en-US" altLang="ja-JP" dirty="0"/>
              <a:t>MASE</a:t>
            </a:r>
            <a:r>
              <a:rPr lang="ja-JP" altLang="en-US" dirty="0"/>
              <a:t>：「何もしない予測（</a:t>
            </a:r>
            <a:r>
              <a:rPr lang="en-US" altLang="ja-JP" dirty="0"/>
              <a:t>24</a:t>
            </a:r>
            <a:r>
              <a:rPr lang="ja-JP" altLang="en-US" dirty="0"/>
              <a:t>時間前と同じ）」</a:t>
            </a:r>
            <a:endParaRPr lang="en-US" altLang="ja-JP" dirty="0"/>
          </a:p>
          <a:p>
            <a:r>
              <a:rPr lang="ja-JP" altLang="en-US" dirty="0"/>
              <a:t>　　　　 と比べた誤差の比率</a:t>
            </a:r>
            <a:endParaRPr kumimoji="1" lang="ja-JP" altLang="en-US" dirty="0"/>
          </a:p>
        </p:txBody>
      </p:sp>
      <p:pic>
        <p:nvPicPr>
          <p:cNvPr id="7" name="図 6">
            <a:extLst>
              <a:ext uri="{FF2B5EF4-FFF2-40B4-BE49-F238E27FC236}">
                <a16:creationId xmlns:a16="http://schemas.microsoft.com/office/drawing/2014/main" id="{1571D673-BAFC-2F40-F36B-E387DE0F52A0}"/>
              </a:ext>
            </a:extLst>
          </p:cNvPr>
          <p:cNvPicPr>
            <a:picLocks noChangeAspect="1"/>
          </p:cNvPicPr>
          <p:nvPr/>
        </p:nvPicPr>
        <p:blipFill>
          <a:blip r:embed="rId4"/>
          <a:stretch>
            <a:fillRect/>
          </a:stretch>
        </p:blipFill>
        <p:spPr>
          <a:xfrm>
            <a:off x="0" y="-1"/>
            <a:ext cx="12192000" cy="6870381"/>
          </a:xfrm>
          <a:prstGeom prst="rect">
            <a:avLst/>
          </a:prstGeom>
        </p:spPr>
      </p:pic>
    </p:spTree>
    <p:extLst>
      <p:ext uri="{BB962C8B-B14F-4D97-AF65-F5344CB8AC3E}">
        <p14:creationId xmlns:p14="http://schemas.microsoft.com/office/powerpoint/2010/main" val="24248991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A7069E-9146-9C79-73BA-F18FEDD419EA}"/>
              </a:ext>
            </a:extLst>
          </p:cNvPr>
          <p:cNvSpPr>
            <a:spLocks noGrp="1"/>
          </p:cNvSpPr>
          <p:nvPr>
            <p:ph type="title"/>
          </p:nvPr>
        </p:nvSpPr>
        <p:spPr/>
        <p:txBody>
          <a:bodyPr>
            <a:normAutofit/>
          </a:bodyPr>
          <a:lstStyle/>
          <a:p>
            <a:r>
              <a:rPr lang="ja-JP" altLang="en-US" sz="5400" b="1" dirty="0">
                <a:latin typeface="BIZ UDPゴシック" panose="020B0400000000000000" pitchFamily="50" charset="-128"/>
                <a:ea typeface="BIZ UDPゴシック" panose="020B0400000000000000" pitchFamily="50" charset="-128"/>
              </a:rPr>
              <a:t>結果からわかること</a:t>
            </a:r>
            <a:endParaRPr kumimoji="1" lang="ja-JP" altLang="en-US" sz="5400" b="1" dirty="0">
              <a:latin typeface="BIZ UDPゴシック" panose="020B0400000000000000" pitchFamily="50" charset="-128"/>
              <a:ea typeface="BIZ UDPゴシック" panose="020B0400000000000000" pitchFamily="50" charset="-128"/>
            </a:endParaRPr>
          </a:p>
        </p:txBody>
      </p:sp>
      <p:sp>
        <p:nvSpPr>
          <p:cNvPr id="3" name="スライド番号プレースホルダー 2">
            <a:extLst>
              <a:ext uri="{FF2B5EF4-FFF2-40B4-BE49-F238E27FC236}">
                <a16:creationId xmlns:a16="http://schemas.microsoft.com/office/drawing/2014/main" id="{7EDA5889-7B03-9660-D619-0C34EFF2B50C}"/>
              </a:ext>
            </a:extLst>
          </p:cNvPr>
          <p:cNvSpPr>
            <a:spLocks noGrp="1"/>
          </p:cNvSpPr>
          <p:nvPr>
            <p:ph type="sldNum" sz="quarter" idx="12"/>
          </p:nvPr>
        </p:nvSpPr>
        <p:spPr/>
        <p:txBody>
          <a:bodyPr/>
          <a:lstStyle/>
          <a:p>
            <a:fld id="{C636472C-77F3-4730-9E58-470BC344D402}" type="slidenum">
              <a:rPr kumimoji="1" lang="ja-JP" altLang="en-US" sz="3200" smtClean="0"/>
              <a:t>10</a:t>
            </a:fld>
            <a:endParaRPr kumimoji="1" lang="ja-JP" altLang="en-US" sz="3200" dirty="0"/>
          </a:p>
        </p:txBody>
      </p:sp>
      <p:sp>
        <p:nvSpPr>
          <p:cNvPr id="4" name="テキスト ボックス 3">
            <a:extLst>
              <a:ext uri="{FF2B5EF4-FFF2-40B4-BE49-F238E27FC236}">
                <a16:creationId xmlns:a16="http://schemas.microsoft.com/office/drawing/2014/main" id="{084BFDFD-6894-077B-F4B8-6399155DEC9F}"/>
              </a:ext>
            </a:extLst>
          </p:cNvPr>
          <p:cNvSpPr txBox="1"/>
          <p:nvPr/>
        </p:nvSpPr>
        <p:spPr>
          <a:xfrm>
            <a:off x="425637" y="1792224"/>
            <a:ext cx="11766363" cy="3785652"/>
          </a:xfrm>
          <a:prstGeom prst="rect">
            <a:avLst/>
          </a:prstGeom>
          <a:noFill/>
        </p:spPr>
        <p:txBody>
          <a:bodyPr wrap="none" rtlCol="0">
            <a:spAutoFit/>
          </a:bodyPr>
          <a:lstStyle/>
          <a:p>
            <a:r>
              <a:rPr lang="en-US" altLang="ja-JP" sz="2400" dirty="0"/>
              <a:t>Chronos</a:t>
            </a:r>
            <a:r>
              <a:rPr lang="ja-JP" altLang="en-US" sz="2400" dirty="0"/>
              <a:t>が</a:t>
            </a:r>
            <a:r>
              <a:rPr lang="en-US" altLang="ja-JP" sz="2400" dirty="0"/>
              <a:t>MASE</a:t>
            </a:r>
            <a:r>
              <a:rPr lang="ja-JP" altLang="en-US" sz="2400" dirty="0"/>
              <a:t> </a:t>
            </a:r>
            <a:r>
              <a:rPr lang="en-US" altLang="ja-JP" sz="2400" dirty="0"/>
              <a:t>0.684</a:t>
            </a:r>
            <a:r>
              <a:rPr lang="ja-JP" altLang="en-US" sz="2400" dirty="0"/>
              <a:t>でもっとも精度が良い</a:t>
            </a:r>
            <a:endParaRPr lang="en-US" altLang="ja-JP" sz="2400" dirty="0"/>
          </a:p>
          <a:p>
            <a:r>
              <a:rPr lang="ja-JP" altLang="en-US" sz="2400" dirty="0"/>
              <a:t>↓</a:t>
            </a:r>
            <a:endParaRPr lang="en-US" altLang="ja-JP" sz="2400" dirty="0"/>
          </a:p>
          <a:p>
            <a:r>
              <a:rPr lang="ja-JP" altLang="en-US" sz="2400" dirty="0"/>
              <a:t>・学習、特徴量設計、運用のコストを一切かけずに、</a:t>
            </a:r>
            <a:r>
              <a:rPr lang="en-US" altLang="ja-JP" sz="2400" dirty="0"/>
              <a:t>train</a:t>
            </a:r>
            <a:r>
              <a:rPr lang="ja-JP" altLang="en-US" sz="2400" dirty="0"/>
              <a:t>した</a:t>
            </a:r>
            <a:r>
              <a:rPr lang="en-US" altLang="ja-JP" sz="2400" dirty="0"/>
              <a:t>ML</a:t>
            </a:r>
            <a:r>
              <a:rPr lang="ja-JP" altLang="en-US" sz="2400" dirty="0"/>
              <a:t>モデルと同等以上</a:t>
            </a:r>
            <a:endParaRPr lang="en-US" altLang="ja-JP" sz="2400" dirty="0"/>
          </a:p>
          <a:p>
            <a:r>
              <a:rPr lang="ja-JP" altLang="en-US" sz="2400" dirty="0"/>
              <a:t>　の精度が出せる</a:t>
            </a:r>
            <a:endParaRPr lang="en-US" altLang="ja-JP" sz="2400" dirty="0"/>
          </a:p>
          <a:p>
            <a:r>
              <a:rPr lang="ja-JP" altLang="en-US" sz="2400" dirty="0"/>
              <a:t>　「まず</a:t>
            </a:r>
            <a:r>
              <a:rPr lang="en-US" altLang="ja-JP" sz="2400" dirty="0"/>
              <a:t>zero-shot</a:t>
            </a:r>
            <a:r>
              <a:rPr lang="ja-JP" altLang="en-US" sz="2400" dirty="0"/>
              <a:t>の基盤モデルを試す」が合理的な出発点になる</a:t>
            </a:r>
            <a:endParaRPr lang="en-US" altLang="ja-JP" sz="2400" dirty="0"/>
          </a:p>
          <a:p>
            <a:r>
              <a:rPr lang="ja-JP" altLang="ja-JP" sz="2400" dirty="0"/>
              <a:t>・逆に言えば、trainしたMLも0.724まで詰め寄っており、Chronosとの差は</a:t>
            </a:r>
            <a:endParaRPr lang="en-US" altLang="ja-JP" sz="2400" dirty="0"/>
          </a:p>
          <a:p>
            <a:r>
              <a:rPr lang="ja-JP" altLang="en-US" sz="2400" dirty="0"/>
              <a:t>　</a:t>
            </a:r>
            <a:r>
              <a:rPr lang="ja-JP" altLang="ja-JP" sz="2400" dirty="0"/>
              <a:t>大きくない</a:t>
            </a:r>
            <a:br>
              <a:rPr lang="ja-JP" altLang="ja-JP" sz="2400" dirty="0"/>
            </a:br>
            <a:r>
              <a:rPr lang="ja-JP" altLang="ja-JP" sz="2400" dirty="0"/>
              <a:t>　ただし全体集計ではChronosを上回れておらず、学習コストに見合うかは</a:t>
            </a:r>
            <a:endParaRPr lang="en-US" altLang="ja-JP" sz="2400" dirty="0"/>
          </a:p>
          <a:p>
            <a:r>
              <a:rPr lang="ja-JP" altLang="en-US" sz="2400" dirty="0"/>
              <a:t>　</a:t>
            </a:r>
            <a:r>
              <a:rPr lang="ja-JP" altLang="ja-JP" sz="2400" dirty="0"/>
              <a:t>この結果だけでは判断できない</a:t>
            </a:r>
            <a:br>
              <a:rPr lang="ja-JP" altLang="ja-JP" sz="2400" dirty="0"/>
            </a:br>
            <a:r>
              <a:rPr lang="ja-JP" altLang="ja-JP" sz="2400" dirty="0"/>
              <a:t>　→ 次のホライズン別の分析で、この評価がどう変わるかを見ていく</a:t>
            </a:r>
            <a:endParaRPr lang="en-US" altLang="ja-JP" sz="2400" dirty="0"/>
          </a:p>
        </p:txBody>
      </p:sp>
    </p:spTree>
    <p:extLst>
      <p:ext uri="{BB962C8B-B14F-4D97-AF65-F5344CB8AC3E}">
        <p14:creationId xmlns:p14="http://schemas.microsoft.com/office/powerpoint/2010/main" val="884975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5F18CD-4EF3-9641-46FE-1F90EDE185BA}"/>
              </a:ext>
            </a:extLst>
          </p:cNvPr>
          <p:cNvSpPr>
            <a:spLocks noGrp="1"/>
          </p:cNvSpPr>
          <p:nvPr>
            <p:ph type="title"/>
          </p:nvPr>
        </p:nvSpPr>
        <p:spPr/>
        <p:txBody>
          <a:bodyPr>
            <a:normAutofit/>
          </a:bodyPr>
          <a:lstStyle/>
          <a:p>
            <a:r>
              <a:rPr kumimoji="1" lang="ja-JP" altLang="en-US" sz="5400" b="1" dirty="0">
                <a:latin typeface="BIZ UDPゴシック" panose="020B0400000000000000" pitchFamily="50" charset="-128"/>
                <a:ea typeface="BIZ UDPゴシック" panose="020B0400000000000000" pitchFamily="50" charset="-128"/>
              </a:rPr>
              <a:t>予測ホライズンでの分析</a:t>
            </a:r>
          </a:p>
        </p:txBody>
      </p:sp>
      <p:sp>
        <p:nvSpPr>
          <p:cNvPr id="3" name="スライド番号プレースホルダー 2">
            <a:extLst>
              <a:ext uri="{FF2B5EF4-FFF2-40B4-BE49-F238E27FC236}">
                <a16:creationId xmlns:a16="http://schemas.microsoft.com/office/drawing/2014/main" id="{DCE2CCF5-D171-A75B-DA49-47CC8624C3BC}"/>
              </a:ext>
            </a:extLst>
          </p:cNvPr>
          <p:cNvSpPr>
            <a:spLocks noGrp="1"/>
          </p:cNvSpPr>
          <p:nvPr>
            <p:ph type="sldNum" sz="quarter" idx="12"/>
          </p:nvPr>
        </p:nvSpPr>
        <p:spPr/>
        <p:txBody>
          <a:bodyPr/>
          <a:lstStyle/>
          <a:p>
            <a:fld id="{C636472C-77F3-4730-9E58-470BC344D402}" type="slidenum">
              <a:rPr kumimoji="1" lang="ja-JP" altLang="en-US" sz="3200" smtClean="0"/>
              <a:t>11</a:t>
            </a:fld>
            <a:endParaRPr kumimoji="1" lang="ja-JP" altLang="en-US" sz="3200" dirty="0"/>
          </a:p>
        </p:txBody>
      </p:sp>
      <p:sp>
        <p:nvSpPr>
          <p:cNvPr id="4" name="テキスト ボックス 3">
            <a:extLst>
              <a:ext uri="{FF2B5EF4-FFF2-40B4-BE49-F238E27FC236}">
                <a16:creationId xmlns:a16="http://schemas.microsoft.com/office/drawing/2014/main" id="{3EF4AFA5-73E4-DD6D-49D2-DFEDE60D9B68}"/>
              </a:ext>
            </a:extLst>
          </p:cNvPr>
          <p:cNvSpPr txBox="1"/>
          <p:nvPr/>
        </p:nvSpPr>
        <p:spPr>
          <a:xfrm>
            <a:off x="297180" y="1914668"/>
            <a:ext cx="4892686" cy="1200329"/>
          </a:xfrm>
          <a:prstGeom prst="rect">
            <a:avLst/>
          </a:prstGeom>
          <a:noFill/>
        </p:spPr>
        <p:txBody>
          <a:bodyPr wrap="none" rtlCol="0">
            <a:spAutoFit/>
          </a:bodyPr>
          <a:lstStyle/>
          <a:p>
            <a:r>
              <a:rPr lang="ja-JP" altLang="en-US" sz="2400" dirty="0"/>
              <a:t>短期</a:t>
            </a:r>
            <a:r>
              <a:rPr lang="en-US" altLang="ja-JP" sz="2400" dirty="0"/>
              <a:t>(1-24h)</a:t>
            </a:r>
            <a:r>
              <a:rPr lang="ja-JP" altLang="en-US" sz="2400" dirty="0"/>
              <a:t>は常に</a:t>
            </a:r>
            <a:r>
              <a:rPr lang="en-US" altLang="ja-JP" sz="2400" dirty="0"/>
              <a:t>Chronos</a:t>
            </a:r>
            <a:r>
              <a:rPr lang="ja-JP" altLang="en-US" sz="2400" dirty="0"/>
              <a:t>が優位</a:t>
            </a:r>
            <a:endParaRPr lang="en-US" altLang="ja-JP" sz="2400" dirty="0"/>
          </a:p>
          <a:p>
            <a:r>
              <a:rPr lang="ja-JP" altLang="en-US" sz="2400" dirty="0"/>
              <a:t>一方、中期</a:t>
            </a:r>
            <a:r>
              <a:rPr lang="en-US" altLang="ja-JP" sz="2400" dirty="0"/>
              <a:t>(48-168h)</a:t>
            </a:r>
            <a:r>
              <a:rPr lang="ja-JP" altLang="en-US" sz="2400" dirty="0"/>
              <a:t>では</a:t>
            </a:r>
            <a:endParaRPr lang="en-US" altLang="ja-JP" sz="2400" dirty="0"/>
          </a:p>
          <a:p>
            <a:r>
              <a:rPr lang="en-US" altLang="ja-JP" sz="2400" dirty="0" err="1"/>
              <a:t>LightGBM</a:t>
            </a:r>
            <a:r>
              <a:rPr lang="ja-JP" altLang="en-US" sz="2400" dirty="0"/>
              <a:t>が明確に上回る。</a:t>
            </a:r>
            <a:endParaRPr kumimoji="1" lang="ja-JP" altLang="en-US" sz="2400" dirty="0"/>
          </a:p>
        </p:txBody>
      </p:sp>
      <p:pic>
        <p:nvPicPr>
          <p:cNvPr id="6" name="図 5">
            <a:extLst>
              <a:ext uri="{FF2B5EF4-FFF2-40B4-BE49-F238E27FC236}">
                <a16:creationId xmlns:a16="http://schemas.microsoft.com/office/drawing/2014/main" id="{06E848B4-B08E-1320-FDEB-E7A8CA3A0BE5}"/>
              </a:ext>
            </a:extLst>
          </p:cNvPr>
          <p:cNvPicPr>
            <a:picLocks noChangeAspect="1"/>
          </p:cNvPicPr>
          <p:nvPr/>
        </p:nvPicPr>
        <p:blipFill>
          <a:blip r:embed="rId3"/>
          <a:stretch>
            <a:fillRect/>
          </a:stretch>
        </p:blipFill>
        <p:spPr>
          <a:xfrm>
            <a:off x="5407376" y="1914668"/>
            <a:ext cx="6784624" cy="4322659"/>
          </a:xfrm>
          <a:prstGeom prst="rect">
            <a:avLst/>
          </a:prstGeom>
        </p:spPr>
      </p:pic>
      <p:sp>
        <p:nvSpPr>
          <p:cNvPr id="7" name="矢印: 下 6">
            <a:extLst>
              <a:ext uri="{FF2B5EF4-FFF2-40B4-BE49-F238E27FC236}">
                <a16:creationId xmlns:a16="http://schemas.microsoft.com/office/drawing/2014/main" id="{14E6FD23-E0CE-3313-EAC1-DDBBA767C121}"/>
              </a:ext>
            </a:extLst>
          </p:cNvPr>
          <p:cNvSpPr/>
          <p:nvPr/>
        </p:nvSpPr>
        <p:spPr>
          <a:xfrm>
            <a:off x="2034540" y="3256414"/>
            <a:ext cx="438912" cy="658421"/>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64902547-1724-5B3D-2C71-E65A9924585C}"/>
              </a:ext>
            </a:extLst>
          </p:cNvPr>
          <p:cNvSpPr txBox="1"/>
          <p:nvPr/>
        </p:nvSpPr>
        <p:spPr>
          <a:xfrm>
            <a:off x="2508528" y="3417916"/>
            <a:ext cx="2749471" cy="400110"/>
          </a:xfrm>
          <a:prstGeom prst="rect">
            <a:avLst/>
          </a:prstGeom>
          <a:noFill/>
        </p:spPr>
        <p:txBody>
          <a:bodyPr wrap="none" rtlCol="0">
            <a:spAutoFit/>
          </a:bodyPr>
          <a:lstStyle/>
          <a:p>
            <a:r>
              <a:rPr kumimoji="1" lang="ja-JP" altLang="en-US" sz="2000" dirty="0"/>
              <a:t>優劣が入れ替わる原因</a:t>
            </a:r>
          </a:p>
        </p:txBody>
      </p:sp>
      <p:sp>
        <p:nvSpPr>
          <p:cNvPr id="10" name="テキスト ボックス 9">
            <a:extLst>
              <a:ext uri="{FF2B5EF4-FFF2-40B4-BE49-F238E27FC236}">
                <a16:creationId xmlns:a16="http://schemas.microsoft.com/office/drawing/2014/main" id="{91DB2861-B5AF-A0FE-9F4C-C59B304E863F}"/>
              </a:ext>
            </a:extLst>
          </p:cNvPr>
          <p:cNvSpPr txBox="1"/>
          <p:nvPr/>
        </p:nvSpPr>
        <p:spPr>
          <a:xfrm>
            <a:off x="297180" y="3994270"/>
            <a:ext cx="4870244" cy="1569660"/>
          </a:xfrm>
          <a:prstGeom prst="rect">
            <a:avLst/>
          </a:prstGeom>
          <a:noFill/>
        </p:spPr>
        <p:txBody>
          <a:bodyPr wrap="none" rtlCol="0">
            <a:spAutoFit/>
          </a:bodyPr>
          <a:lstStyle/>
          <a:p>
            <a:r>
              <a:rPr kumimoji="1" lang="ja-JP" altLang="en-US" sz="2400" dirty="0"/>
              <a:t>・</a:t>
            </a:r>
            <a:r>
              <a:rPr kumimoji="1" lang="en-US" altLang="ja-JP" sz="2400" dirty="0"/>
              <a:t>Chronos</a:t>
            </a:r>
            <a:r>
              <a:rPr kumimoji="1" lang="ja-JP" altLang="en-US" sz="2400" dirty="0"/>
              <a:t>が長期予測に適した</a:t>
            </a:r>
            <a:endParaRPr kumimoji="1" lang="en-US" altLang="ja-JP" sz="2400" dirty="0"/>
          </a:p>
          <a:p>
            <a:r>
              <a:rPr lang="ja-JP" altLang="en-US" sz="2400" dirty="0"/>
              <a:t>　</a:t>
            </a:r>
            <a:r>
              <a:rPr kumimoji="1" lang="ja-JP" altLang="en-US" sz="2400" dirty="0"/>
              <a:t>モデル</a:t>
            </a:r>
            <a:r>
              <a:rPr lang="ja-JP" altLang="en-US" sz="2400" dirty="0"/>
              <a:t>ではないため</a:t>
            </a:r>
            <a:endParaRPr lang="en-US" altLang="ja-JP" sz="2400" dirty="0"/>
          </a:p>
          <a:p>
            <a:r>
              <a:rPr kumimoji="1" lang="ja-JP" altLang="en-US" sz="2400" dirty="0"/>
              <a:t>・</a:t>
            </a:r>
            <a:r>
              <a:rPr kumimoji="1" lang="en-US" altLang="ja-JP" sz="2400" dirty="0"/>
              <a:t>Chronos</a:t>
            </a:r>
            <a:r>
              <a:rPr lang="ja-JP" altLang="en-US" sz="2400" dirty="0"/>
              <a:t>は</a:t>
            </a:r>
            <a:r>
              <a:rPr lang="en-US" altLang="ja-JP" sz="2400" dirty="0"/>
              <a:t>zero-shot</a:t>
            </a:r>
            <a:r>
              <a:rPr lang="ja-JP" altLang="en-US" sz="2400" dirty="0"/>
              <a:t>であるため</a:t>
            </a:r>
            <a:endParaRPr lang="en-US" altLang="ja-JP" sz="2400" dirty="0"/>
          </a:p>
          <a:p>
            <a:r>
              <a:rPr kumimoji="1" lang="ja-JP" altLang="en-US" sz="2400" dirty="0"/>
              <a:t>　カレンダー情報を使えない</a:t>
            </a:r>
          </a:p>
        </p:txBody>
      </p:sp>
    </p:spTree>
    <p:extLst>
      <p:ext uri="{BB962C8B-B14F-4D97-AF65-F5344CB8AC3E}">
        <p14:creationId xmlns:p14="http://schemas.microsoft.com/office/powerpoint/2010/main" val="124699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3BC4F1EB-D6C0-37AC-8094-0C575BDEA184}"/>
              </a:ext>
            </a:extLst>
          </p:cNvPr>
          <p:cNvSpPr>
            <a:spLocks noGrp="1"/>
          </p:cNvSpPr>
          <p:nvPr>
            <p:ph type="sldNum" sz="quarter" idx="12"/>
          </p:nvPr>
        </p:nvSpPr>
        <p:spPr/>
        <p:txBody>
          <a:bodyPr/>
          <a:lstStyle/>
          <a:p>
            <a:fld id="{C636472C-77F3-4730-9E58-470BC344D402}" type="slidenum">
              <a:rPr kumimoji="1" lang="ja-JP" altLang="en-US" sz="3200" smtClean="0"/>
              <a:t>12</a:t>
            </a:fld>
            <a:endParaRPr kumimoji="1" lang="ja-JP" altLang="en-US" sz="3200" dirty="0"/>
          </a:p>
        </p:txBody>
      </p:sp>
      <p:sp>
        <p:nvSpPr>
          <p:cNvPr id="4" name="テキスト ボックス 3">
            <a:extLst>
              <a:ext uri="{FF2B5EF4-FFF2-40B4-BE49-F238E27FC236}">
                <a16:creationId xmlns:a16="http://schemas.microsoft.com/office/drawing/2014/main" id="{1FD869AE-8D67-6369-6323-3E592C869AE6}"/>
              </a:ext>
            </a:extLst>
          </p:cNvPr>
          <p:cNvSpPr txBox="1"/>
          <p:nvPr/>
        </p:nvSpPr>
        <p:spPr>
          <a:xfrm>
            <a:off x="361688" y="1669029"/>
            <a:ext cx="10992112" cy="1569660"/>
          </a:xfrm>
          <a:prstGeom prst="rect">
            <a:avLst/>
          </a:prstGeom>
          <a:noFill/>
        </p:spPr>
        <p:txBody>
          <a:bodyPr wrap="none" rtlCol="0">
            <a:spAutoFit/>
          </a:bodyPr>
          <a:lstStyle/>
          <a:p>
            <a:r>
              <a:rPr lang="ja-JP" altLang="en-US" sz="2400" dirty="0"/>
              <a:t>富岳の電力は突然大幅に変化することがあるため、大幅な変化の前後</a:t>
            </a:r>
            <a:r>
              <a:rPr lang="en-US" altLang="ja-JP" sz="2400" dirty="0"/>
              <a:t>±14</a:t>
            </a:r>
            <a:r>
              <a:rPr lang="ja-JP" altLang="en-US" sz="2400" dirty="0"/>
              <a:t>日を</a:t>
            </a:r>
            <a:endParaRPr lang="en-US" altLang="ja-JP" sz="2400" dirty="0"/>
          </a:p>
          <a:p>
            <a:r>
              <a:rPr lang="ja-JP" altLang="en-US" sz="2400" dirty="0"/>
              <a:t>「遷移期」、それ以外を「安定期」とする</a:t>
            </a:r>
            <a:endParaRPr lang="en-US" altLang="ja-JP" sz="2400" dirty="0"/>
          </a:p>
          <a:p>
            <a:r>
              <a:rPr lang="ja-JP" altLang="en-US" sz="2400" dirty="0"/>
              <a:t>安定期と遷移期で、</a:t>
            </a:r>
            <a:r>
              <a:rPr lang="en-US" altLang="ja-JP" sz="2400" dirty="0"/>
              <a:t>covariate</a:t>
            </a:r>
            <a:r>
              <a:rPr lang="ja-JP" altLang="en-US" sz="2400" dirty="0"/>
              <a:t>を与えることで精度が向上するかどうかを主に</a:t>
            </a:r>
            <a:endParaRPr lang="en-US" altLang="ja-JP" sz="2400" dirty="0"/>
          </a:p>
          <a:p>
            <a:r>
              <a:rPr lang="en-US" altLang="ja-JP" sz="2400" dirty="0" err="1"/>
              <a:t>LightGBM</a:t>
            </a:r>
            <a:r>
              <a:rPr lang="ja-JP" altLang="en-US" sz="2400" dirty="0"/>
              <a:t>のモデルで確認する</a:t>
            </a:r>
            <a:endParaRPr lang="en-US" altLang="ja-JP" sz="2400" dirty="0"/>
          </a:p>
        </p:txBody>
      </p:sp>
      <p:pic>
        <p:nvPicPr>
          <p:cNvPr id="6" name="図 5">
            <a:extLst>
              <a:ext uri="{FF2B5EF4-FFF2-40B4-BE49-F238E27FC236}">
                <a16:creationId xmlns:a16="http://schemas.microsoft.com/office/drawing/2014/main" id="{CAE4A959-14BA-6980-F897-E0E895ADB5F9}"/>
              </a:ext>
            </a:extLst>
          </p:cNvPr>
          <p:cNvPicPr>
            <a:picLocks noChangeAspect="1"/>
          </p:cNvPicPr>
          <p:nvPr/>
        </p:nvPicPr>
        <p:blipFill>
          <a:blip r:embed="rId3"/>
          <a:srcRect r="76646"/>
          <a:stretch>
            <a:fillRect/>
          </a:stretch>
        </p:blipFill>
        <p:spPr>
          <a:xfrm>
            <a:off x="654296" y="3629586"/>
            <a:ext cx="3286623" cy="1803692"/>
          </a:xfrm>
          <a:prstGeom prst="rect">
            <a:avLst/>
          </a:prstGeom>
        </p:spPr>
      </p:pic>
      <p:pic>
        <p:nvPicPr>
          <p:cNvPr id="8" name="図 7">
            <a:extLst>
              <a:ext uri="{FF2B5EF4-FFF2-40B4-BE49-F238E27FC236}">
                <a16:creationId xmlns:a16="http://schemas.microsoft.com/office/drawing/2014/main" id="{2B7C62B9-7C73-E6DC-2B06-1E4F5A87B6B4}"/>
              </a:ext>
            </a:extLst>
          </p:cNvPr>
          <p:cNvPicPr>
            <a:picLocks noChangeAspect="1"/>
          </p:cNvPicPr>
          <p:nvPr/>
        </p:nvPicPr>
        <p:blipFill>
          <a:blip r:embed="rId3"/>
          <a:srcRect l="31857" r="56210"/>
          <a:stretch>
            <a:fillRect/>
          </a:stretch>
        </p:blipFill>
        <p:spPr>
          <a:xfrm>
            <a:off x="3940919" y="3629586"/>
            <a:ext cx="1679448" cy="1803692"/>
          </a:xfrm>
          <a:prstGeom prst="rect">
            <a:avLst/>
          </a:prstGeom>
        </p:spPr>
      </p:pic>
      <p:pic>
        <p:nvPicPr>
          <p:cNvPr id="10" name="図 9">
            <a:extLst>
              <a:ext uri="{FF2B5EF4-FFF2-40B4-BE49-F238E27FC236}">
                <a16:creationId xmlns:a16="http://schemas.microsoft.com/office/drawing/2014/main" id="{21AD49F0-7C41-07B2-521B-B77655019637}"/>
              </a:ext>
            </a:extLst>
          </p:cNvPr>
          <p:cNvPicPr>
            <a:picLocks noChangeAspect="1"/>
          </p:cNvPicPr>
          <p:nvPr/>
        </p:nvPicPr>
        <p:blipFill>
          <a:blip r:embed="rId3"/>
          <a:srcRect l="67110" r="19934"/>
          <a:stretch>
            <a:fillRect/>
          </a:stretch>
        </p:blipFill>
        <p:spPr>
          <a:xfrm>
            <a:off x="5513918" y="3630639"/>
            <a:ext cx="1822335" cy="1802638"/>
          </a:xfrm>
          <a:prstGeom prst="rect">
            <a:avLst/>
          </a:prstGeom>
        </p:spPr>
      </p:pic>
      <p:sp>
        <p:nvSpPr>
          <p:cNvPr id="15" name="テキスト ボックス 14">
            <a:extLst>
              <a:ext uri="{FF2B5EF4-FFF2-40B4-BE49-F238E27FC236}">
                <a16:creationId xmlns:a16="http://schemas.microsoft.com/office/drawing/2014/main" id="{43B7E70F-A76A-D19B-2470-C8A256E9CBD6}"/>
              </a:ext>
            </a:extLst>
          </p:cNvPr>
          <p:cNvSpPr txBox="1"/>
          <p:nvPr/>
        </p:nvSpPr>
        <p:spPr>
          <a:xfrm>
            <a:off x="361688" y="5661878"/>
            <a:ext cx="10716395" cy="830997"/>
          </a:xfrm>
          <a:prstGeom prst="rect">
            <a:avLst/>
          </a:prstGeom>
          <a:noFill/>
        </p:spPr>
        <p:txBody>
          <a:bodyPr wrap="none" rtlCol="0">
            <a:spAutoFit/>
          </a:bodyPr>
          <a:lstStyle/>
          <a:p>
            <a:r>
              <a:rPr lang="ja-JP" altLang="en-US" sz="2400" dirty="0"/>
              <a:t>結果として、安定期では</a:t>
            </a:r>
            <a:r>
              <a:rPr lang="en-US" altLang="ja-JP" sz="2400" dirty="0"/>
              <a:t>covariate</a:t>
            </a:r>
            <a:r>
              <a:rPr lang="ja-JP" altLang="en-US" sz="2400" dirty="0"/>
              <a:t>を与えると精度が向上したが、遷移期では</a:t>
            </a:r>
            <a:endParaRPr lang="en-US" altLang="ja-JP" sz="2400" dirty="0"/>
          </a:p>
          <a:p>
            <a:r>
              <a:rPr lang="en-US" altLang="ja-JP" sz="2400" dirty="0"/>
              <a:t>covariate</a:t>
            </a:r>
            <a:r>
              <a:rPr lang="ja-JP" altLang="en-US" sz="2400" dirty="0"/>
              <a:t>を与えると逆に悪化してしまうという結果になった</a:t>
            </a:r>
            <a:endParaRPr lang="en-US" altLang="ja-JP" sz="2400" dirty="0"/>
          </a:p>
        </p:txBody>
      </p:sp>
      <p:sp>
        <p:nvSpPr>
          <p:cNvPr id="16" name="タイトル 1">
            <a:extLst>
              <a:ext uri="{FF2B5EF4-FFF2-40B4-BE49-F238E27FC236}">
                <a16:creationId xmlns:a16="http://schemas.microsoft.com/office/drawing/2014/main" id="{E68876AC-0B68-5025-AF12-AB1500030DD3}"/>
              </a:ext>
            </a:extLst>
          </p:cNvPr>
          <p:cNvSpPr>
            <a:spLocks noGrp="1"/>
          </p:cNvSpPr>
          <p:nvPr>
            <p:ph type="title"/>
          </p:nvPr>
        </p:nvSpPr>
        <p:spPr>
          <a:xfrm>
            <a:off x="838200" y="365125"/>
            <a:ext cx="10515600" cy="1325563"/>
          </a:xfrm>
        </p:spPr>
        <p:txBody>
          <a:bodyPr>
            <a:normAutofit/>
          </a:bodyPr>
          <a:lstStyle/>
          <a:p>
            <a:r>
              <a:rPr lang="ja-JP" altLang="en-US" sz="5400" b="1" dirty="0">
                <a:latin typeface="BIZ UDPゴシック" panose="020B0400000000000000" pitchFamily="50" charset="-128"/>
                <a:ea typeface="BIZ UDPゴシック" panose="020B0400000000000000" pitchFamily="50" charset="-128"/>
              </a:rPr>
              <a:t>期間での分析</a:t>
            </a:r>
            <a:endParaRPr kumimoji="1" lang="ja-JP" altLang="en-US" sz="5400" b="1"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7172840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0CC4BBDD-AC9E-73C6-B7C0-3E9DBA3AA951}"/>
              </a:ext>
            </a:extLst>
          </p:cNvPr>
          <p:cNvSpPr>
            <a:spLocks noGrp="1"/>
          </p:cNvSpPr>
          <p:nvPr>
            <p:ph type="sldNum" sz="quarter" idx="12"/>
          </p:nvPr>
        </p:nvSpPr>
        <p:spPr/>
        <p:txBody>
          <a:bodyPr/>
          <a:lstStyle/>
          <a:p>
            <a:fld id="{C636472C-77F3-4730-9E58-470BC344D402}" type="slidenum">
              <a:rPr kumimoji="1" lang="ja-JP" altLang="en-US" sz="3200" smtClean="0"/>
              <a:t>13</a:t>
            </a:fld>
            <a:endParaRPr kumimoji="1" lang="ja-JP" altLang="en-US" sz="3200" dirty="0"/>
          </a:p>
        </p:txBody>
      </p:sp>
      <p:sp>
        <p:nvSpPr>
          <p:cNvPr id="4" name="テキスト ボックス 3">
            <a:extLst>
              <a:ext uri="{FF2B5EF4-FFF2-40B4-BE49-F238E27FC236}">
                <a16:creationId xmlns:a16="http://schemas.microsoft.com/office/drawing/2014/main" id="{494F6CA6-47B1-C1FC-8E2C-C43C0AFFAB34}"/>
              </a:ext>
            </a:extLst>
          </p:cNvPr>
          <p:cNvSpPr txBox="1"/>
          <p:nvPr/>
        </p:nvSpPr>
        <p:spPr>
          <a:xfrm>
            <a:off x="457200" y="429768"/>
            <a:ext cx="10341293" cy="830997"/>
          </a:xfrm>
          <a:prstGeom prst="rect">
            <a:avLst/>
          </a:prstGeom>
          <a:noFill/>
        </p:spPr>
        <p:txBody>
          <a:bodyPr wrap="none" rtlCol="0">
            <a:spAutoFit/>
          </a:bodyPr>
          <a:lstStyle/>
          <a:p>
            <a:r>
              <a:rPr lang="ja-JP" altLang="en-US" sz="2400" dirty="0"/>
              <a:t>遷移期のほうが予測が困難であることは想定通りだが、追加の情報である</a:t>
            </a:r>
            <a:endParaRPr lang="en-US" altLang="ja-JP" sz="2400" dirty="0"/>
          </a:p>
          <a:p>
            <a:r>
              <a:rPr lang="en-US" altLang="ja-JP" sz="2400" dirty="0"/>
              <a:t>covariate</a:t>
            </a:r>
            <a:r>
              <a:rPr lang="ja-JP" altLang="en-US" sz="2400" dirty="0"/>
              <a:t>を与えたら精度が落ちることは想定外だった</a:t>
            </a:r>
            <a:endParaRPr lang="en-US" altLang="ja-JP" sz="2400" dirty="0"/>
          </a:p>
        </p:txBody>
      </p:sp>
      <p:sp>
        <p:nvSpPr>
          <p:cNvPr id="7" name="矢印: 下 6">
            <a:extLst>
              <a:ext uri="{FF2B5EF4-FFF2-40B4-BE49-F238E27FC236}">
                <a16:creationId xmlns:a16="http://schemas.microsoft.com/office/drawing/2014/main" id="{D2FB6400-E8F3-976A-BCDF-E9E3D144ECDA}"/>
              </a:ext>
            </a:extLst>
          </p:cNvPr>
          <p:cNvSpPr/>
          <p:nvPr/>
        </p:nvSpPr>
        <p:spPr>
          <a:xfrm>
            <a:off x="941832" y="1477863"/>
            <a:ext cx="667512" cy="1014984"/>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532F718E-477F-44B8-EE64-D99BE8540D09}"/>
              </a:ext>
            </a:extLst>
          </p:cNvPr>
          <p:cNvSpPr txBox="1"/>
          <p:nvPr/>
        </p:nvSpPr>
        <p:spPr>
          <a:xfrm>
            <a:off x="1888236" y="1719072"/>
            <a:ext cx="2647188" cy="461665"/>
          </a:xfrm>
          <a:prstGeom prst="rect">
            <a:avLst/>
          </a:prstGeom>
          <a:noFill/>
        </p:spPr>
        <p:txBody>
          <a:bodyPr wrap="square" rtlCol="0">
            <a:spAutoFit/>
          </a:bodyPr>
          <a:lstStyle/>
          <a:p>
            <a:r>
              <a:rPr kumimoji="1" lang="ja-JP" altLang="en-US" sz="2400" dirty="0"/>
              <a:t>考えられる可能性</a:t>
            </a:r>
          </a:p>
        </p:txBody>
      </p:sp>
      <p:sp>
        <p:nvSpPr>
          <p:cNvPr id="9" name="テキスト ボックス 8">
            <a:extLst>
              <a:ext uri="{FF2B5EF4-FFF2-40B4-BE49-F238E27FC236}">
                <a16:creationId xmlns:a16="http://schemas.microsoft.com/office/drawing/2014/main" id="{24287A34-0693-8AE7-822A-CC32BDEB8096}"/>
              </a:ext>
            </a:extLst>
          </p:cNvPr>
          <p:cNvSpPr txBox="1"/>
          <p:nvPr/>
        </p:nvSpPr>
        <p:spPr>
          <a:xfrm>
            <a:off x="457200" y="2720321"/>
            <a:ext cx="10956846" cy="1569660"/>
          </a:xfrm>
          <a:prstGeom prst="rect">
            <a:avLst/>
          </a:prstGeom>
          <a:noFill/>
        </p:spPr>
        <p:txBody>
          <a:bodyPr wrap="none" rtlCol="0">
            <a:spAutoFit/>
          </a:bodyPr>
          <a:lstStyle/>
          <a:p>
            <a:r>
              <a:rPr lang="ja-JP" altLang="en-US" sz="2400" dirty="0"/>
              <a:t>・</a:t>
            </a:r>
            <a:r>
              <a:rPr lang="en-US" altLang="ja-JP" sz="2400" dirty="0"/>
              <a:t>covariate</a:t>
            </a:r>
            <a:r>
              <a:rPr lang="ja-JP" altLang="en-US" sz="2400" dirty="0"/>
              <a:t>特徴量には予測起点時点のスナップショット値が含まれるが、</a:t>
            </a:r>
            <a:endParaRPr lang="en-US" altLang="ja-JP" sz="2400" dirty="0"/>
          </a:p>
          <a:p>
            <a:r>
              <a:rPr lang="ja-JP" altLang="en-US" sz="2400" dirty="0"/>
              <a:t>　これは運用状況が急変する遷移期には数日で実態と乖離してしまう</a:t>
            </a:r>
            <a:endParaRPr lang="en-US" altLang="ja-JP" sz="2400" dirty="0"/>
          </a:p>
          <a:p>
            <a:r>
              <a:rPr lang="ja-JP" altLang="en-US" sz="2400" dirty="0"/>
              <a:t>・安定期であればこのスナップショットは近い将来もある程度当てになるが、</a:t>
            </a:r>
            <a:endParaRPr lang="en-US" altLang="ja-JP" sz="2400" dirty="0"/>
          </a:p>
          <a:p>
            <a:r>
              <a:rPr lang="ja-JP" altLang="en-US" sz="2400" dirty="0"/>
              <a:t>　遷移期ではむしろ古い情報が予測をミスリードする方向に働く可能性がある</a:t>
            </a:r>
          </a:p>
        </p:txBody>
      </p:sp>
    </p:spTree>
    <p:extLst>
      <p:ext uri="{BB962C8B-B14F-4D97-AF65-F5344CB8AC3E}">
        <p14:creationId xmlns:p14="http://schemas.microsoft.com/office/powerpoint/2010/main" val="879600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BDD271-2E88-87DC-2F40-3C3EEB0BE323}"/>
              </a:ext>
            </a:extLst>
          </p:cNvPr>
          <p:cNvSpPr>
            <a:spLocks noGrp="1"/>
          </p:cNvSpPr>
          <p:nvPr>
            <p:ph type="title"/>
          </p:nvPr>
        </p:nvSpPr>
        <p:spPr>
          <a:xfrm>
            <a:off x="518160" y="282829"/>
            <a:ext cx="11213592" cy="1325563"/>
          </a:xfrm>
        </p:spPr>
        <p:txBody>
          <a:bodyPr>
            <a:normAutofit fontScale="90000"/>
          </a:bodyPr>
          <a:lstStyle/>
          <a:p>
            <a:r>
              <a:rPr kumimoji="1" lang="en-US" altLang="ja-JP" sz="5400" b="1" dirty="0">
                <a:latin typeface="BIZ UDPゴシック" panose="020B0400000000000000" pitchFamily="50" charset="-128"/>
                <a:ea typeface="BIZ UDPゴシック" panose="020B0400000000000000" pitchFamily="50" charset="-128"/>
              </a:rPr>
              <a:t>Newsvendor</a:t>
            </a:r>
            <a:r>
              <a:rPr kumimoji="1" lang="ja-JP" altLang="en-US" sz="5400" b="1" dirty="0">
                <a:latin typeface="BIZ UDPゴシック" panose="020B0400000000000000" pitchFamily="50" charset="-128"/>
                <a:ea typeface="BIZ UDPゴシック" panose="020B0400000000000000" pitchFamily="50" charset="-128"/>
              </a:rPr>
              <a:t>理論に見るコスト削減とその限界</a:t>
            </a:r>
          </a:p>
        </p:txBody>
      </p:sp>
      <p:sp>
        <p:nvSpPr>
          <p:cNvPr id="3" name="スライド番号プレースホルダー 2">
            <a:extLst>
              <a:ext uri="{FF2B5EF4-FFF2-40B4-BE49-F238E27FC236}">
                <a16:creationId xmlns:a16="http://schemas.microsoft.com/office/drawing/2014/main" id="{A4C7EAE5-B80D-C9DC-1272-1E3011583B4B}"/>
              </a:ext>
            </a:extLst>
          </p:cNvPr>
          <p:cNvSpPr>
            <a:spLocks noGrp="1"/>
          </p:cNvSpPr>
          <p:nvPr>
            <p:ph type="sldNum" sz="quarter" idx="12"/>
          </p:nvPr>
        </p:nvSpPr>
        <p:spPr/>
        <p:txBody>
          <a:bodyPr/>
          <a:lstStyle/>
          <a:p>
            <a:fld id="{C636472C-77F3-4730-9E58-470BC344D402}" type="slidenum">
              <a:rPr kumimoji="1" lang="ja-JP" altLang="en-US" sz="3200" smtClean="0"/>
              <a:t>14</a:t>
            </a:fld>
            <a:endParaRPr kumimoji="1" lang="ja-JP" altLang="en-US" sz="3200" dirty="0"/>
          </a:p>
        </p:txBody>
      </p:sp>
      <p:sp>
        <p:nvSpPr>
          <p:cNvPr id="4" name="テキスト ボックス 3">
            <a:extLst>
              <a:ext uri="{FF2B5EF4-FFF2-40B4-BE49-F238E27FC236}">
                <a16:creationId xmlns:a16="http://schemas.microsoft.com/office/drawing/2014/main" id="{AE25AC86-B0C7-0268-F5D4-69E3EFD26FBD}"/>
              </a:ext>
            </a:extLst>
          </p:cNvPr>
          <p:cNvSpPr txBox="1"/>
          <p:nvPr/>
        </p:nvSpPr>
        <p:spPr>
          <a:xfrm>
            <a:off x="609600" y="1962531"/>
            <a:ext cx="10121682" cy="1938992"/>
          </a:xfrm>
          <a:prstGeom prst="rect">
            <a:avLst/>
          </a:prstGeom>
          <a:noFill/>
        </p:spPr>
        <p:txBody>
          <a:bodyPr wrap="none" rtlCol="0">
            <a:spAutoFit/>
          </a:bodyPr>
          <a:lstStyle/>
          <a:p>
            <a:r>
              <a:rPr kumimoji="1" lang="en-US" altLang="ja-JP" sz="2400" dirty="0"/>
              <a:t>Newsvendor</a:t>
            </a:r>
            <a:r>
              <a:rPr kumimoji="1" lang="ja-JP" altLang="en-US" sz="2400" dirty="0"/>
              <a:t>理論：事前に需要がわからないものをどれくらい</a:t>
            </a:r>
            <a:endParaRPr kumimoji="1" lang="en-US" altLang="ja-JP" sz="2400" dirty="0"/>
          </a:p>
          <a:p>
            <a:r>
              <a:rPr lang="ja-JP" altLang="en-US" sz="2400" dirty="0"/>
              <a:t>　　　　　　　　   </a:t>
            </a:r>
            <a:r>
              <a:rPr kumimoji="1" lang="ja-JP" altLang="en-US" sz="2400" dirty="0"/>
              <a:t>仕入れればいいかを扱う古典的な理論</a:t>
            </a:r>
            <a:endParaRPr kumimoji="1" lang="en-US" altLang="ja-JP" sz="2400" dirty="0"/>
          </a:p>
          <a:p>
            <a:r>
              <a:rPr lang="ja-JP" altLang="en-US" sz="2400" dirty="0"/>
              <a:t>品切れと売れ残りのコストが非対称なとき</a:t>
            </a:r>
            <a:r>
              <a:rPr lang="ja-JP" altLang="ja-JP" sz="2400" dirty="0"/>
              <a:t>、 </a:t>
            </a:r>
            <a:r>
              <a:rPr lang="ja-JP" altLang="en-US" sz="2400" dirty="0"/>
              <a:t>最適な仕入れ量は平均需要</a:t>
            </a:r>
            <a:endParaRPr lang="en-US" altLang="ja-JP" sz="2400" dirty="0"/>
          </a:p>
          <a:p>
            <a:r>
              <a:rPr lang="ja-JP" altLang="en-US" sz="2400" dirty="0"/>
              <a:t>ではなく、需要分布のある</a:t>
            </a:r>
            <a:r>
              <a:rPr lang="en-US" altLang="ja-JP" sz="2400" dirty="0"/>
              <a:t>1</a:t>
            </a:r>
            <a:r>
              <a:rPr lang="ja-JP" altLang="en-US" sz="2400" dirty="0"/>
              <a:t>点</a:t>
            </a:r>
            <a:r>
              <a:rPr lang="ja-JP" altLang="ja-JP" sz="2400" dirty="0"/>
              <a:t>で決まる</a:t>
            </a:r>
            <a:endParaRPr lang="en-US" altLang="ja-JP" sz="2400" dirty="0"/>
          </a:p>
          <a:p>
            <a:r>
              <a:rPr kumimoji="1" lang="ja-JP" altLang="en-US" sz="2400" dirty="0"/>
              <a:t>これを富岳に応用する</a:t>
            </a:r>
          </a:p>
        </p:txBody>
      </p:sp>
      <p:pic>
        <p:nvPicPr>
          <p:cNvPr id="6" name="図 5">
            <a:extLst>
              <a:ext uri="{FF2B5EF4-FFF2-40B4-BE49-F238E27FC236}">
                <a16:creationId xmlns:a16="http://schemas.microsoft.com/office/drawing/2014/main" id="{9542DB67-13B9-2729-0ACE-8A38F921976C}"/>
              </a:ext>
            </a:extLst>
          </p:cNvPr>
          <p:cNvPicPr>
            <a:picLocks noChangeAspect="1"/>
          </p:cNvPicPr>
          <p:nvPr/>
        </p:nvPicPr>
        <p:blipFill>
          <a:blip r:embed="rId3"/>
          <a:srcRect l="52035"/>
          <a:stretch>
            <a:fillRect/>
          </a:stretch>
        </p:blipFill>
        <p:spPr>
          <a:xfrm>
            <a:off x="7048293" y="3681844"/>
            <a:ext cx="3526950" cy="3039631"/>
          </a:xfrm>
          <a:prstGeom prst="rect">
            <a:avLst/>
          </a:prstGeom>
        </p:spPr>
      </p:pic>
      <p:pic>
        <p:nvPicPr>
          <p:cNvPr id="8" name="図 7">
            <a:extLst>
              <a:ext uri="{FF2B5EF4-FFF2-40B4-BE49-F238E27FC236}">
                <a16:creationId xmlns:a16="http://schemas.microsoft.com/office/drawing/2014/main" id="{8FA11A15-27FB-0218-1A64-79D52E3F6B52}"/>
              </a:ext>
            </a:extLst>
          </p:cNvPr>
          <p:cNvPicPr>
            <a:picLocks noChangeAspect="1"/>
          </p:cNvPicPr>
          <p:nvPr/>
        </p:nvPicPr>
        <p:blipFill>
          <a:blip r:embed="rId3"/>
          <a:srcRect r="76854"/>
          <a:stretch>
            <a:fillRect/>
          </a:stretch>
        </p:blipFill>
        <p:spPr>
          <a:xfrm>
            <a:off x="5355913" y="3681844"/>
            <a:ext cx="1698890" cy="3034108"/>
          </a:xfrm>
          <a:prstGeom prst="rect">
            <a:avLst/>
          </a:prstGeom>
        </p:spPr>
      </p:pic>
    </p:spTree>
    <p:extLst>
      <p:ext uri="{BB962C8B-B14F-4D97-AF65-F5344CB8AC3E}">
        <p14:creationId xmlns:p14="http://schemas.microsoft.com/office/powerpoint/2010/main" val="6743094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612D36A5-970E-029D-81DE-3334A663B73D}"/>
              </a:ext>
            </a:extLst>
          </p:cNvPr>
          <p:cNvSpPr>
            <a:spLocks noGrp="1"/>
          </p:cNvSpPr>
          <p:nvPr>
            <p:ph type="sldNum" sz="quarter" idx="12"/>
          </p:nvPr>
        </p:nvSpPr>
        <p:spPr/>
        <p:txBody>
          <a:bodyPr/>
          <a:lstStyle/>
          <a:p>
            <a:fld id="{C636472C-77F3-4730-9E58-470BC344D402}" type="slidenum">
              <a:rPr kumimoji="1" lang="ja-JP" altLang="en-US" sz="3200" smtClean="0"/>
              <a:t>15</a:t>
            </a:fld>
            <a:endParaRPr kumimoji="1" lang="ja-JP" altLang="en-US" sz="3200" dirty="0"/>
          </a:p>
        </p:txBody>
      </p:sp>
      <p:sp>
        <p:nvSpPr>
          <p:cNvPr id="4" name="テキスト ボックス 3">
            <a:extLst>
              <a:ext uri="{FF2B5EF4-FFF2-40B4-BE49-F238E27FC236}">
                <a16:creationId xmlns:a16="http://schemas.microsoft.com/office/drawing/2014/main" id="{4C597FF1-70DA-D648-B2E7-C700B8500903}"/>
              </a:ext>
            </a:extLst>
          </p:cNvPr>
          <p:cNvSpPr txBox="1"/>
          <p:nvPr/>
        </p:nvSpPr>
        <p:spPr>
          <a:xfrm>
            <a:off x="498886" y="393573"/>
            <a:ext cx="11634916" cy="2431435"/>
          </a:xfrm>
          <a:prstGeom prst="rect">
            <a:avLst/>
          </a:prstGeom>
          <a:noFill/>
        </p:spPr>
        <p:txBody>
          <a:bodyPr wrap="none" rtlCol="0">
            <a:spAutoFit/>
          </a:bodyPr>
          <a:lstStyle/>
          <a:p>
            <a:r>
              <a:rPr lang="ja-JP" altLang="ja-JP" sz="2400" dirty="0"/>
              <a:t>引当量Cを消費電力yが超えれば緊急冷却などの高コスト、下回れば遊休容量の</a:t>
            </a:r>
            <a:endParaRPr lang="en-US" altLang="ja-JP" sz="2400" dirty="0"/>
          </a:p>
          <a:p>
            <a:r>
              <a:rPr lang="ja-JP" altLang="ja-JP" sz="2400" dirty="0"/>
              <a:t>無駄が生じる非対称コストを最小化する</a:t>
            </a:r>
            <a:r>
              <a:rPr lang="ja-JP" altLang="en-US" sz="2400" dirty="0"/>
              <a:t>、</a:t>
            </a:r>
            <a:r>
              <a:rPr lang="ja-JP" altLang="ja-JP" sz="2400" dirty="0"/>
              <a:t>最適な引当量</a:t>
            </a:r>
            <a:r>
              <a:rPr lang="ja-JP" altLang="en-US" sz="2400" dirty="0"/>
              <a:t>を</a:t>
            </a:r>
            <a:r>
              <a:rPr lang="en-US" altLang="ja-JP" sz="2400" dirty="0"/>
              <a:t>Newsvendor</a:t>
            </a:r>
            <a:r>
              <a:rPr lang="ja-JP" altLang="en-US" sz="2400" dirty="0"/>
              <a:t>理論を</a:t>
            </a:r>
            <a:endParaRPr lang="en-US" altLang="ja-JP" sz="2400" dirty="0"/>
          </a:p>
          <a:p>
            <a:r>
              <a:rPr kumimoji="1" lang="ja-JP" altLang="en-US" sz="2400" dirty="0"/>
              <a:t>使って予測する</a:t>
            </a:r>
            <a:endParaRPr kumimoji="1" lang="en-US" altLang="ja-JP" sz="2400" dirty="0"/>
          </a:p>
          <a:p>
            <a:r>
              <a:rPr lang="en-US" altLang="ja-JP" sz="2400" dirty="0"/>
              <a:t>※</a:t>
            </a:r>
            <a:r>
              <a:rPr lang="ja-JP" altLang="en-US" sz="2400" dirty="0"/>
              <a:t>ここでは、平均的に一番精度が良かったモデルである</a:t>
            </a:r>
            <a:r>
              <a:rPr lang="en-US" altLang="ja-JP" sz="2400" dirty="0"/>
              <a:t>Chronos</a:t>
            </a:r>
            <a:r>
              <a:rPr lang="ja-JP" altLang="en-US" sz="2400" dirty="0"/>
              <a:t>を例にする</a:t>
            </a:r>
            <a:endParaRPr kumimoji="1" lang="en-US" altLang="ja-JP" sz="2400" dirty="0"/>
          </a:p>
          <a:p>
            <a:r>
              <a:rPr lang="ja-JP" altLang="ja-JP" sz="3200" dirty="0"/>
              <a:t>cost(y, C) = r × max(y−C, 0) + 1 × max(C−y, 0)</a:t>
            </a:r>
            <a:endParaRPr lang="en-US" altLang="ja-JP" sz="3200" dirty="0"/>
          </a:p>
          <a:p>
            <a:r>
              <a:rPr lang="en-US" altLang="ja-JP" sz="2400" dirty="0"/>
              <a:t>r=9</a:t>
            </a:r>
            <a:r>
              <a:rPr lang="ja-JP" altLang="en-US" sz="2400" dirty="0"/>
              <a:t>としてこの式を</a:t>
            </a:r>
            <a:r>
              <a:rPr lang="en-US" altLang="ja-JP" sz="2400" dirty="0"/>
              <a:t>1</a:t>
            </a:r>
            <a:r>
              <a:rPr lang="ja-JP" altLang="en-US" sz="2400" dirty="0"/>
              <a:t>年分のテストデータ全体に適用し、平均コストを比較すると、</a:t>
            </a:r>
            <a:endParaRPr kumimoji="1" lang="ja-JP" altLang="en-US" sz="2400" dirty="0"/>
          </a:p>
        </p:txBody>
      </p:sp>
      <p:sp>
        <p:nvSpPr>
          <p:cNvPr id="5" name="四角形: 角を丸くする 4">
            <a:extLst>
              <a:ext uri="{FF2B5EF4-FFF2-40B4-BE49-F238E27FC236}">
                <a16:creationId xmlns:a16="http://schemas.microsoft.com/office/drawing/2014/main" id="{973D705A-0FA8-CEC1-EFAF-C174490E27C6}"/>
              </a:ext>
            </a:extLst>
          </p:cNvPr>
          <p:cNvSpPr/>
          <p:nvPr/>
        </p:nvSpPr>
        <p:spPr>
          <a:xfrm>
            <a:off x="1106424" y="3446419"/>
            <a:ext cx="4352544" cy="258775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１１</a:t>
            </a:r>
          </a:p>
        </p:txBody>
      </p:sp>
      <p:sp>
        <p:nvSpPr>
          <p:cNvPr id="7" name="四角形: 角を丸くする 6">
            <a:extLst>
              <a:ext uri="{FF2B5EF4-FFF2-40B4-BE49-F238E27FC236}">
                <a16:creationId xmlns:a16="http://schemas.microsoft.com/office/drawing/2014/main" id="{B9F7CD55-D6A9-8579-4DBC-37274BF63767}"/>
              </a:ext>
            </a:extLst>
          </p:cNvPr>
          <p:cNvSpPr/>
          <p:nvPr/>
        </p:nvSpPr>
        <p:spPr>
          <a:xfrm>
            <a:off x="6733034" y="3429000"/>
            <a:ext cx="4352544" cy="258775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582D786D-68CE-A471-D4D7-878E079A1505}"/>
              </a:ext>
            </a:extLst>
          </p:cNvPr>
          <p:cNvSpPr txBox="1"/>
          <p:nvPr/>
        </p:nvSpPr>
        <p:spPr>
          <a:xfrm>
            <a:off x="1311721" y="3709243"/>
            <a:ext cx="3361818" cy="1754326"/>
          </a:xfrm>
          <a:prstGeom prst="rect">
            <a:avLst/>
          </a:prstGeom>
          <a:noFill/>
        </p:spPr>
        <p:txBody>
          <a:bodyPr wrap="none" rtlCol="0">
            <a:spAutoFit/>
          </a:bodyPr>
          <a:lstStyle/>
          <a:p>
            <a:r>
              <a:rPr lang="ja-JP" altLang="ja-JP" sz="2400" dirty="0"/>
              <a:t>予測なし(static)からの</a:t>
            </a:r>
            <a:endParaRPr lang="en-US" altLang="ja-JP" sz="2400" dirty="0"/>
          </a:p>
          <a:p>
            <a:r>
              <a:rPr lang="ja-JP" altLang="ja-JP" sz="2400" dirty="0"/>
              <a:t>コスト削減</a:t>
            </a:r>
            <a:endParaRPr lang="en-US" altLang="ja-JP" sz="2400" dirty="0"/>
          </a:p>
          <a:p>
            <a:endParaRPr lang="ja-JP" altLang="en-US" sz="1200" dirty="0"/>
          </a:p>
          <a:p>
            <a:r>
              <a:rPr kumimoji="1" lang="ja-JP" altLang="en-US" sz="4800" b="1" dirty="0"/>
              <a:t>＋</a:t>
            </a:r>
            <a:r>
              <a:rPr kumimoji="1" lang="en-US" altLang="ja-JP" sz="4800" b="1" dirty="0"/>
              <a:t>15.7</a:t>
            </a:r>
            <a:r>
              <a:rPr kumimoji="1" lang="ja-JP" altLang="en-US" sz="4800" b="1" dirty="0"/>
              <a:t>％</a:t>
            </a:r>
            <a:endParaRPr kumimoji="1" lang="en-US" altLang="ja-JP" sz="4800" b="1" dirty="0"/>
          </a:p>
        </p:txBody>
      </p:sp>
      <p:sp>
        <p:nvSpPr>
          <p:cNvPr id="12" name="テキスト ボックス 11">
            <a:extLst>
              <a:ext uri="{FF2B5EF4-FFF2-40B4-BE49-F238E27FC236}">
                <a16:creationId xmlns:a16="http://schemas.microsoft.com/office/drawing/2014/main" id="{61BC9ECC-74F0-2714-E98F-4DA0A4EBF992}"/>
              </a:ext>
            </a:extLst>
          </p:cNvPr>
          <p:cNvSpPr txBox="1"/>
          <p:nvPr/>
        </p:nvSpPr>
        <p:spPr>
          <a:xfrm>
            <a:off x="6892274" y="3709243"/>
            <a:ext cx="4107215" cy="1754326"/>
          </a:xfrm>
          <a:prstGeom prst="rect">
            <a:avLst/>
          </a:prstGeom>
          <a:noFill/>
        </p:spPr>
        <p:txBody>
          <a:bodyPr wrap="none" rtlCol="0">
            <a:spAutoFit/>
          </a:bodyPr>
          <a:lstStyle/>
          <a:p>
            <a:r>
              <a:rPr lang="ja-JP" altLang="en-US" sz="2400" dirty="0"/>
              <a:t>素朴な予測</a:t>
            </a:r>
            <a:r>
              <a:rPr lang="en-US" altLang="ja-JP" sz="2400" dirty="0"/>
              <a:t>(seasonal-naïve)</a:t>
            </a:r>
          </a:p>
          <a:p>
            <a:r>
              <a:rPr lang="ja-JP" altLang="ja-JP" sz="2400" dirty="0"/>
              <a:t>からのコスト削減</a:t>
            </a:r>
            <a:endParaRPr lang="en-US" altLang="ja-JP" sz="2400" dirty="0"/>
          </a:p>
          <a:p>
            <a:endParaRPr lang="ja-JP" altLang="en-US" sz="1200" dirty="0"/>
          </a:p>
          <a:p>
            <a:r>
              <a:rPr kumimoji="1" lang="ja-JP" altLang="en-US" sz="4800" b="1" dirty="0"/>
              <a:t>＋</a:t>
            </a:r>
            <a:r>
              <a:rPr lang="en-US" altLang="ja-JP" sz="4800" b="1" dirty="0"/>
              <a:t>33.6</a:t>
            </a:r>
            <a:r>
              <a:rPr kumimoji="1" lang="ja-JP" altLang="en-US" sz="4800" b="1" dirty="0"/>
              <a:t>％</a:t>
            </a:r>
            <a:endParaRPr kumimoji="1" lang="en-US" altLang="ja-JP" sz="4800" b="1" dirty="0"/>
          </a:p>
        </p:txBody>
      </p:sp>
    </p:spTree>
    <p:extLst>
      <p:ext uri="{BB962C8B-B14F-4D97-AF65-F5344CB8AC3E}">
        <p14:creationId xmlns:p14="http://schemas.microsoft.com/office/powerpoint/2010/main" val="38807732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AFB0E3-5FD5-4A48-0C0E-B609DF9C78FF}"/>
              </a:ext>
            </a:extLst>
          </p:cNvPr>
          <p:cNvSpPr>
            <a:spLocks noGrp="1"/>
          </p:cNvSpPr>
          <p:nvPr>
            <p:ph type="title"/>
          </p:nvPr>
        </p:nvSpPr>
        <p:spPr/>
        <p:txBody>
          <a:bodyPr>
            <a:normAutofit/>
          </a:bodyPr>
          <a:lstStyle/>
          <a:p>
            <a:r>
              <a:rPr kumimoji="1" lang="ja-JP" altLang="en-US" sz="5400" b="1" dirty="0">
                <a:latin typeface="BIZ UDPゴシック" panose="020B0400000000000000" pitchFamily="50" charset="-128"/>
                <a:ea typeface="BIZ UDPゴシック" panose="020B0400000000000000" pitchFamily="50" charset="-128"/>
              </a:rPr>
              <a:t>まとめ</a:t>
            </a:r>
          </a:p>
        </p:txBody>
      </p:sp>
      <p:sp>
        <p:nvSpPr>
          <p:cNvPr id="3" name="スライド番号プレースホルダー 2">
            <a:extLst>
              <a:ext uri="{FF2B5EF4-FFF2-40B4-BE49-F238E27FC236}">
                <a16:creationId xmlns:a16="http://schemas.microsoft.com/office/drawing/2014/main" id="{BD3EAF96-416A-2F88-DEB4-F05C2D73990E}"/>
              </a:ext>
            </a:extLst>
          </p:cNvPr>
          <p:cNvSpPr>
            <a:spLocks noGrp="1"/>
          </p:cNvSpPr>
          <p:nvPr>
            <p:ph type="sldNum" sz="quarter" idx="12"/>
          </p:nvPr>
        </p:nvSpPr>
        <p:spPr/>
        <p:txBody>
          <a:bodyPr/>
          <a:lstStyle/>
          <a:p>
            <a:fld id="{C636472C-77F3-4730-9E58-470BC344D402}" type="slidenum">
              <a:rPr kumimoji="1" lang="ja-JP" altLang="en-US" sz="3200" smtClean="0"/>
              <a:t>16</a:t>
            </a:fld>
            <a:endParaRPr kumimoji="1" lang="ja-JP" altLang="en-US" sz="3200" dirty="0"/>
          </a:p>
        </p:txBody>
      </p:sp>
      <p:sp>
        <p:nvSpPr>
          <p:cNvPr id="4" name="テキスト ボックス 3">
            <a:extLst>
              <a:ext uri="{FF2B5EF4-FFF2-40B4-BE49-F238E27FC236}">
                <a16:creationId xmlns:a16="http://schemas.microsoft.com/office/drawing/2014/main" id="{85E61AD3-2AA3-FC54-3C9C-602D3F115A74}"/>
              </a:ext>
            </a:extLst>
          </p:cNvPr>
          <p:cNvSpPr txBox="1"/>
          <p:nvPr/>
        </p:nvSpPr>
        <p:spPr>
          <a:xfrm>
            <a:off x="586082" y="1875771"/>
            <a:ext cx="11264622" cy="3785652"/>
          </a:xfrm>
          <a:prstGeom prst="rect">
            <a:avLst/>
          </a:prstGeom>
          <a:noFill/>
        </p:spPr>
        <p:txBody>
          <a:bodyPr wrap="none" rtlCol="0">
            <a:spAutoFit/>
          </a:bodyPr>
          <a:lstStyle/>
          <a:p>
            <a:r>
              <a:rPr lang="en-US" altLang="ja-JP" sz="3200" dirty="0"/>
              <a:t>1.</a:t>
            </a:r>
            <a:r>
              <a:rPr lang="ja-JP" altLang="en-US" sz="3200" dirty="0"/>
              <a:t>予測ホライズンで逆転する</a:t>
            </a:r>
            <a:endParaRPr lang="en-US" altLang="ja-JP" sz="3200" dirty="0"/>
          </a:p>
          <a:p>
            <a:r>
              <a:rPr lang="ja-JP" altLang="en-US" sz="2400" dirty="0"/>
              <a:t>　</a:t>
            </a:r>
            <a:r>
              <a:rPr lang="ja-JP" altLang="ja-JP" sz="2400" dirty="0"/>
              <a:t>短期はChronos、中期はLightGBMが明確に優位</a:t>
            </a:r>
            <a:r>
              <a:rPr lang="ja-JP" altLang="en-US" sz="2400" dirty="0"/>
              <a:t>であるため、一概にどちらが</a:t>
            </a:r>
            <a:endParaRPr lang="en-US" altLang="ja-JP" sz="2400" dirty="0"/>
          </a:p>
          <a:p>
            <a:r>
              <a:rPr lang="ja-JP" altLang="en-US" sz="2400" dirty="0"/>
              <a:t>　富岳の消費電力予測に適しているとは言えず、目的に合わせた使い分けが必要</a:t>
            </a:r>
            <a:endParaRPr lang="en-US" altLang="ja-JP" sz="2400" dirty="0"/>
          </a:p>
          <a:p>
            <a:r>
              <a:rPr kumimoji="1" lang="en-US" altLang="ja-JP" sz="3200" dirty="0"/>
              <a:t>2.</a:t>
            </a:r>
            <a:r>
              <a:rPr kumimoji="1" lang="ja-JP" altLang="en-US" sz="3200" dirty="0"/>
              <a:t>急変への頑健性</a:t>
            </a:r>
            <a:endParaRPr kumimoji="1" lang="en-US" altLang="ja-JP" sz="3200" dirty="0"/>
          </a:p>
          <a:p>
            <a:r>
              <a:rPr lang="ja-JP" altLang="en-US" sz="2400" dirty="0"/>
              <a:t>　</a:t>
            </a:r>
            <a:r>
              <a:rPr lang="ja-JP" altLang="ja-JP" sz="2400" dirty="0"/>
              <a:t>運用状況が急変すると全モデルの誤差が悪化</a:t>
            </a:r>
            <a:endParaRPr lang="en-US" altLang="ja-JP" sz="2400" dirty="0"/>
          </a:p>
          <a:p>
            <a:r>
              <a:rPr lang="ja-JP" altLang="en-US" sz="2400" dirty="0"/>
              <a:t>　</a:t>
            </a:r>
            <a:r>
              <a:rPr lang="ja-JP" altLang="ja-JP" sz="2400" dirty="0"/>
              <a:t>covariateがそれを緩和するとは言えない</a:t>
            </a:r>
            <a:endParaRPr kumimoji="1" lang="en-US" altLang="ja-JP" sz="2400" dirty="0"/>
          </a:p>
          <a:p>
            <a:r>
              <a:rPr lang="en-US" altLang="ja-JP" sz="3200" dirty="0"/>
              <a:t>3.</a:t>
            </a:r>
            <a:r>
              <a:rPr lang="ja-JP" altLang="en-US" sz="3200" dirty="0"/>
              <a:t>実際に活用できるか</a:t>
            </a:r>
            <a:endParaRPr lang="en-US" altLang="ja-JP" sz="3200" dirty="0"/>
          </a:p>
          <a:p>
            <a:r>
              <a:rPr lang="ja-JP" altLang="en-US" sz="2400" dirty="0"/>
              <a:t>　</a:t>
            </a:r>
            <a:r>
              <a:rPr lang="ja-JP" altLang="ja-JP" sz="2400" dirty="0"/>
              <a:t>動的な容量引当は静的方式に対し最大33.6%のコスト削減</a:t>
            </a:r>
            <a:endParaRPr lang="en-US" altLang="ja-JP" sz="2400" dirty="0"/>
          </a:p>
          <a:p>
            <a:r>
              <a:rPr lang="ja-JP" altLang="en-US" sz="2400" dirty="0"/>
              <a:t>　</a:t>
            </a:r>
            <a:r>
              <a:rPr lang="ja-JP" altLang="ja-JP" sz="2400" dirty="0"/>
              <a:t>ただしモデルとホライズンの組み合わせを誤ると逆効果</a:t>
            </a:r>
            <a:endParaRPr lang="en-US" altLang="ja-JP" sz="2400" dirty="0"/>
          </a:p>
        </p:txBody>
      </p:sp>
    </p:spTree>
    <p:extLst>
      <p:ext uri="{BB962C8B-B14F-4D97-AF65-F5344CB8AC3E}">
        <p14:creationId xmlns:p14="http://schemas.microsoft.com/office/powerpoint/2010/main" val="38213942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0D4289C-9D72-73FE-5C93-86EA43DB8730}"/>
              </a:ext>
            </a:extLst>
          </p:cNvPr>
          <p:cNvSpPr>
            <a:spLocks noGrp="1"/>
          </p:cNvSpPr>
          <p:nvPr>
            <p:ph type="title"/>
          </p:nvPr>
        </p:nvSpPr>
        <p:spPr/>
        <p:txBody>
          <a:bodyPr>
            <a:normAutofit/>
          </a:bodyPr>
          <a:lstStyle/>
          <a:p>
            <a:r>
              <a:rPr kumimoji="1" lang="ja-JP" altLang="en-US" sz="5400" b="1" dirty="0">
                <a:latin typeface="BIZ UDPゴシック" panose="020B0400000000000000" pitchFamily="50" charset="-128"/>
                <a:ea typeface="BIZ UDPゴシック" panose="020B0400000000000000" pitchFamily="50" charset="-128"/>
              </a:rPr>
              <a:t>発展</a:t>
            </a:r>
          </a:p>
        </p:txBody>
      </p:sp>
      <p:sp>
        <p:nvSpPr>
          <p:cNvPr id="3" name="スライド番号プレースホルダー 2">
            <a:extLst>
              <a:ext uri="{FF2B5EF4-FFF2-40B4-BE49-F238E27FC236}">
                <a16:creationId xmlns:a16="http://schemas.microsoft.com/office/drawing/2014/main" id="{BD562034-7B21-C08B-6CA5-05512DB7D8F1}"/>
              </a:ext>
            </a:extLst>
          </p:cNvPr>
          <p:cNvSpPr>
            <a:spLocks noGrp="1"/>
          </p:cNvSpPr>
          <p:nvPr>
            <p:ph type="sldNum" sz="quarter" idx="12"/>
          </p:nvPr>
        </p:nvSpPr>
        <p:spPr/>
        <p:txBody>
          <a:bodyPr/>
          <a:lstStyle/>
          <a:p>
            <a:fld id="{C636472C-77F3-4730-9E58-470BC344D402}" type="slidenum">
              <a:rPr kumimoji="1" lang="ja-JP" altLang="en-US" sz="3200" smtClean="0"/>
              <a:t>17</a:t>
            </a:fld>
            <a:endParaRPr kumimoji="1" lang="ja-JP" altLang="en-US" sz="3200" dirty="0"/>
          </a:p>
        </p:txBody>
      </p:sp>
      <p:sp>
        <p:nvSpPr>
          <p:cNvPr id="4" name="テキスト ボックス 3">
            <a:extLst>
              <a:ext uri="{FF2B5EF4-FFF2-40B4-BE49-F238E27FC236}">
                <a16:creationId xmlns:a16="http://schemas.microsoft.com/office/drawing/2014/main" id="{596050C1-8C73-3999-8333-0E10E9E08405}"/>
              </a:ext>
            </a:extLst>
          </p:cNvPr>
          <p:cNvSpPr txBox="1"/>
          <p:nvPr/>
        </p:nvSpPr>
        <p:spPr>
          <a:xfrm>
            <a:off x="584835" y="1690688"/>
            <a:ext cx="10429458" cy="1200329"/>
          </a:xfrm>
          <a:prstGeom prst="rect">
            <a:avLst/>
          </a:prstGeom>
          <a:noFill/>
        </p:spPr>
        <p:txBody>
          <a:bodyPr wrap="none" rtlCol="0">
            <a:spAutoFit/>
          </a:bodyPr>
          <a:lstStyle/>
          <a:p>
            <a:r>
              <a:rPr lang="ja-JP" altLang="ja-JP" sz="2400" dirty="0"/>
              <a:t>ホライズンによる逆転が消費電力に固有の結果ではないか確認するため、 </a:t>
            </a:r>
            <a:endParaRPr lang="en-US" altLang="ja-JP" sz="2400" dirty="0"/>
          </a:p>
          <a:p>
            <a:r>
              <a:rPr lang="ja-JP" altLang="ja-JP" sz="2400" dirty="0"/>
              <a:t>同じ設計で稼働ノード数も予測対象にして検証</a:t>
            </a:r>
            <a:r>
              <a:rPr lang="ja-JP" altLang="en-US" sz="2400" dirty="0"/>
              <a:t>する</a:t>
            </a:r>
            <a:endParaRPr lang="en-US" altLang="ja-JP" sz="2400" dirty="0"/>
          </a:p>
          <a:p>
            <a:r>
              <a:rPr kumimoji="1" lang="en-US" altLang="ja-JP" sz="2400" dirty="0"/>
              <a:t>※Chronos</a:t>
            </a:r>
            <a:r>
              <a:rPr kumimoji="1" lang="ja-JP" altLang="en-US" sz="2400" dirty="0"/>
              <a:t>と</a:t>
            </a:r>
            <a:r>
              <a:rPr kumimoji="1" lang="en-US" altLang="ja-JP" sz="2400" dirty="0" err="1"/>
              <a:t>LightGBM</a:t>
            </a:r>
            <a:r>
              <a:rPr kumimoji="1" lang="ja-JP" altLang="en-US" sz="2400" dirty="0"/>
              <a:t>のみの簡易版として実装</a:t>
            </a:r>
          </a:p>
        </p:txBody>
      </p:sp>
      <p:sp>
        <p:nvSpPr>
          <p:cNvPr id="11" name="テキスト ボックス 10">
            <a:extLst>
              <a:ext uri="{FF2B5EF4-FFF2-40B4-BE49-F238E27FC236}">
                <a16:creationId xmlns:a16="http://schemas.microsoft.com/office/drawing/2014/main" id="{E4153604-BECA-2C56-4818-55BBC9BB9982}"/>
              </a:ext>
            </a:extLst>
          </p:cNvPr>
          <p:cNvSpPr txBox="1"/>
          <p:nvPr/>
        </p:nvSpPr>
        <p:spPr>
          <a:xfrm>
            <a:off x="584834" y="3016251"/>
            <a:ext cx="10927461" cy="1569660"/>
          </a:xfrm>
          <a:prstGeom prst="rect">
            <a:avLst/>
          </a:prstGeom>
          <a:noFill/>
        </p:spPr>
        <p:txBody>
          <a:bodyPr wrap="square">
            <a:spAutoFit/>
          </a:bodyPr>
          <a:lstStyle/>
          <a:p>
            <a:r>
              <a:rPr lang="ja-JP" altLang="en-US" sz="2400" b="1" dirty="0"/>
              <a:t>なぜnodesを選んだか</a:t>
            </a:r>
            <a:endParaRPr lang="en-US" altLang="ja-JP" sz="2400" b="1" dirty="0"/>
          </a:p>
          <a:p>
            <a:r>
              <a:rPr lang="ja-JP" altLang="en-US" sz="2400" dirty="0"/>
              <a:t>稼働ノード数と消費電力は相関はしつつも、測定対象としては全く別物</a:t>
            </a:r>
            <a:endParaRPr lang="en-US" altLang="ja-JP" sz="2400" dirty="0"/>
          </a:p>
          <a:p>
            <a:r>
              <a:rPr lang="ja-JP" altLang="en-US" sz="2400" dirty="0"/>
              <a:t>電力固有の測定ノイズやスケールではなく短期</a:t>
            </a:r>
            <a:r>
              <a:rPr lang="en-US" altLang="ja-JP" sz="2400" dirty="0"/>
              <a:t>/</a:t>
            </a:r>
            <a:r>
              <a:rPr lang="ja-JP" altLang="en-US" sz="2400" dirty="0"/>
              <a:t>中期で得意なアーキテクチャが違うという構造自体を検証できる</a:t>
            </a:r>
          </a:p>
        </p:txBody>
      </p:sp>
    </p:spTree>
    <p:extLst>
      <p:ext uri="{BB962C8B-B14F-4D97-AF65-F5344CB8AC3E}">
        <p14:creationId xmlns:p14="http://schemas.microsoft.com/office/powerpoint/2010/main" val="19256475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9C8368A4-CA94-0B5F-F2E4-A478D016EE3F}"/>
              </a:ext>
            </a:extLst>
          </p:cNvPr>
          <p:cNvSpPr>
            <a:spLocks noGrp="1"/>
          </p:cNvSpPr>
          <p:nvPr>
            <p:ph type="sldNum" sz="quarter" idx="12"/>
          </p:nvPr>
        </p:nvSpPr>
        <p:spPr/>
        <p:txBody>
          <a:bodyPr/>
          <a:lstStyle/>
          <a:p>
            <a:fld id="{C636472C-77F3-4730-9E58-470BC344D402}" type="slidenum">
              <a:rPr kumimoji="1" lang="ja-JP" altLang="en-US" sz="3200" smtClean="0"/>
              <a:t>18</a:t>
            </a:fld>
            <a:endParaRPr kumimoji="1" lang="ja-JP" altLang="en-US" sz="3200" dirty="0"/>
          </a:p>
        </p:txBody>
      </p:sp>
      <p:pic>
        <p:nvPicPr>
          <p:cNvPr id="8" name="図 7">
            <a:extLst>
              <a:ext uri="{FF2B5EF4-FFF2-40B4-BE49-F238E27FC236}">
                <a16:creationId xmlns:a16="http://schemas.microsoft.com/office/drawing/2014/main" id="{1F50EFB3-3131-222F-1946-D86B2951FEE7}"/>
              </a:ext>
            </a:extLst>
          </p:cNvPr>
          <p:cNvPicPr>
            <a:picLocks noChangeAspect="1"/>
          </p:cNvPicPr>
          <p:nvPr/>
        </p:nvPicPr>
        <p:blipFill>
          <a:blip r:embed="rId3"/>
          <a:stretch>
            <a:fillRect/>
          </a:stretch>
        </p:blipFill>
        <p:spPr>
          <a:xfrm>
            <a:off x="399257" y="1617219"/>
            <a:ext cx="11393486" cy="1811781"/>
          </a:xfrm>
          <a:prstGeom prst="rect">
            <a:avLst/>
          </a:prstGeom>
          <a:ln>
            <a:noFill/>
          </a:ln>
          <a:effectLst>
            <a:outerShdw blurRad="292100" dist="139700" dir="2700000" algn="tl" rotWithShape="0">
              <a:srgbClr val="333333">
                <a:alpha val="65000"/>
              </a:srgbClr>
            </a:outerShdw>
          </a:effectLst>
        </p:spPr>
      </p:pic>
      <p:sp>
        <p:nvSpPr>
          <p:cNvPr id="11" name="テキスト ボックス 10">
            <a:extLst>
              <a:ext uri="{FF2B5EF4-FFF2-40B4-BE49-F238E27FC236}">
                <a16:creationId xmlns:a16="http://schemas.microsoft.com/office/drawing/2014/main" id="{8B64FEF2-8ACA-03AC-3539-BF01C57F3DAF}"/>
              </a:ext>
            </a:extLst>
          </p:cNvPr>
          <p:cNvSpPr txBox="1"/>
          <p:nvPr/>
        </p:nvSpPr>
        <p:spPr>
          <a:xfrm>
            <a:off x="399257" y="4040452"/>
            <a:ext cx="10341293" cy="1200329"/>
          </a:xfrm>
          <a:prstGeom prst="rect">
            <a:avLst/>
          </a:prstGeom>
          <a:noFill/>
        </p:spPr>
        <p:txBody>
          <a:bodyPr wrap="none" rtlCol="0">
            <a:spAutoFit/>
          </a:bodyPr>
          <a:lstStyle/>
          <a:p>
            <a:r>
              <a:rPr lang="ja-JP" altLang="ja-JP" sz="2400" dirty="0"/>
              <a:t>短期はChronos、中期はLightGBMという構造がnodesでも同じ形で再現</a:t>
            </a:r>
            <a:endParaRPr lang="en-US" altLang="ja-JP" sz="2400" dirty="0"/>
          </a:p>
          <a:p>
            <a:r>
              <a:rPr lang="ja-JP" altLang="en-US" sz="2400" dirty="0"/>
              <a:t>モデルアーキテクチャそのものに根ざしたパターンであることがわかり、</a:t>
            </a:r>
            <a:endParaRPr lang="en-US" altLang="ja-JP" sz="2400" dirty="0"/>
          </a:p>
          <a:p>
            <a:r>
              <a:rPr lang="ja-JP" altLang="en-US" sz="2400" dirty="0"/>
              <a:t>他の運用指標にも応用できる可能性がある</a:t>
            </a:r>
            <a:endParaRPr lang="en-US" altLang="ja-JP" sz="2400" dirty="0"/>
          </a:p>
        </p:txBody>
      </p:sp>
      <p:sp>
        <p:nvSpPr>
          <p:cNvPr id="12" name="タイトル 1">
            <a:extLst>
              <a:ext uri="{FF2B5EF4-FFF2-40B4-BE49-F238E27FC236}">
                <a16:creationId xmlns:a16="http://schemas.microsoft.com/office/drawing/2014/main" id="{90493091-D38A-FE49-D684-A00DBED05CB7}"/>
              </a:ext>
            </a:extLst>
          </p:cNvPr>
          <p:cNvSpPr txBox="1">
            <a:spLocks/>
          </p:cNvSpPr>
          <p:nvPr/>
        </p:nvSpPr>
        <p:spPr>
          <a:xfrm>
            <a:off x="838200" y="34298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5400" b="1" dirty="0">
                <a:latin typeface="BIZ UDPゴシック" panose="020B0400000000000000" pitchFamily="50" charset="-128"/>
                <a:ea typeface="BIZ UDPゴシック" panose="020B0400000000000000" pitchFamily="50" charset="-128"/>
              </a:rPr>
              <a:t>結果</a:t>
            </a:r>
          </a:p>
        </p:txBody>
      </p:sp>
    </p:spTree>
    <p:extLst>
      <p:ext uri="{BB962C8B-B14F-4D97-AF65-F5344CB8AC3E}">
        <p14:creationId xmlns:p14="http://schemas.microsoft.com/office/powerpoint/2010/main" val="22414633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E98AB-AF62-BFFD-FDB2-6AA9CB455AA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C6DD1BB-DB7A-A57D-1FCC-06E56662D2A8}"/>
              </a:ext>
            </a:extLst>
          </p:cNvPr>
          <p:cNvSpPr>
            <a:spLocks noGrp="1"/>
          </p:cNvSpPr>
          <p:nvPr>
            <p:ph type="title"/>
          </p:nvPr>
        </p:nvSpPr>
        <p:spPr/>
        <p:txBody>
          <a:bodyPr>
            <a:normAutofit/>
          </a:bodyPr>
          <a:lstStyle/>
          <a:p>
            <a:r>
              <a:rPr kumimoji="1" lang="ja-JP" altLang="en-US" sz="5400" b="1" dirty="0">
                <a:latin typeface="BIZ UDPゴシック" panose="020B0400000000000000" pitchFamily="50" charset="-128"/>
                <a:ea typeface="BIZ UDPゴシック" panose="020B0400000000000000" pitchFamily="50" charset="-128"/>
              </a:rPr>
              <a:t>反省</a:t>
            </a:r>
          </a:p>
        </p:txBody>
      </p:sp>
      <p:sp>
        <p:nvSpPr>
          <p:cNvPr id="3" name="スライド番号プレースホルダー 2">
            <a:extLst>
              <a:ext uri="{FF2B5EF4-FFF2-40B4-BE49-F238E27FC236}">
                <a16:creationId xmlns:a16="http://schemas.microsoft.com/office/drawing/2014/main" id="{0A30BBB0-A59C-FB2E-E2C0-2453ECD59B77}"/>
              </a:ext>
            </a:extLst>
          </p:cNvPr>
          <p:cNvSpPr>
            <a:spLocks noGrp="1"/>
          </p:cNvSpPr>
          <p:nvPr>
            <p:ph type="sldNum" sz="quarter" idx="12"/>
          </p:nvPr>
        </p:nvSpPr>
        <p:spPr/>
        <p:txBody>
          <a:bodyPr/>
          <a:lstStyle/>
          <a:p>
            <a:fld id="{C636472C-77F3-4730-9E58-470BC344D402}" type="slidenum">
              <a:rPr kumimoji="1" lang="ja-JP" altLang="en-US" sz="3200" smtClean="0"/>
              <a:t>19</a:t>
            </a:fld>
            <a:endParaRPr kumimoji="1" lang="ja-JP" altLang="en-US" sz="3200" dirty="0"/>
          </a:p>
        </p:txBody>
      </p:sp>
      <p:sp>
        <p:nvSpPr>
          <p:cNvPr id="4" name="テキスト ボックス 3">
            <a:extLst>
              <a:ext uri="{FF2B5EF4-FFF2-40B4-BE49-F238E27FC236}">
                <a16:creationId xmlns:a16="http://schemas.microsoft.com/office/drawing/2014/main" id="{E4A2B838-7F00-BADA-F140-CE23D95E354B}"/>
              </a:ext>
            </a:extLst>
          </p:cNvPr>
          <p:cNvSpPr txBox="1"/>
          <p:nvPr/>
        </p:nvSpPr>
        <p:spPr>
          <a:xfrm>
            <a:off x="633984" y="1604521"/>
            <a:ext cx="11008142" cy="1569660"/>
          </a:xfrm>
          <a:prstGeom prst="rect">
            <a:avLst/>
          </a:prstGeom>
          <a:noFill/>
        </p:spPr>
        <p:txBody>
          <a:bodyPr wrap="none" rtlCol="0">
            <a:spAutoFit/>
          </a:bodyPr>
          <a:lstStyle/>
          <a:p>
            <a:r>
              <a:rPr kumimoji="1" lang="ja-JP" altLang="en-US" sz="2400" dirty="0"/>
              <a:t>・</a:t>
            </a:r>
            <a:r>
              <a:rPr kumimoji="1" lang="en-US" altLang="ja-JP" sz="2400" dirty="0"/>
              <a:t>2025</a:t>
            </a:r>
            <a:r>
              <a:rPr kumimoji="1" lang="ja-JP" altLang="en-US" sz="2400" dirty="0"/>
              <a:t>年</a:t>
            </a:r>
            <a:r>
              <a:rPr kumimoji="1" lang="en-US" altLang="ja-JP" sz="2400" dirty="0"/>
              <a:t>~2026</a:t>
            </a:r>
            <a:r>
              <a:rPr kumimoji="1" lang="ja-JP" altLang="en-US" sz="2400" dirty="0"/>
              <a:t>年のデータも使って学習させたかったが、生データの匿名化が</a:t>
            </a:r>
            <a:endParaRPr kumimoji="1" lang="en-US" altLang="ja-JP" sz="2400" dirty="0"/>
          </a:p>
          <a:p>
            <a:r>
              <a:rPr lang="ja-JP" altLang="en-US" sz="2400" dirty="0"/>
              <a:t>　間に合わなかった</a:t>
            </a:r>
            <a:endParaRPr lang="en-US" altLang="ja-JP" sz="2400" dirty="0"/>
          </a:p>
          <a:p>
            <a:r>
              <a:rPr kumimoji="1" lang="ja-JP" altLang="en-US" sz="2400" dirty="0"/>
              <a:t>・テーマ選定に時間がかかりすぎてしまった</a:t>
            </a:r>
            <a:endParaRPr kumimoji="1" lang="en-US" altLang="ja-JP" sz="2400" dirty="0"/>
          </a:p>
          <a:p>
            <a:r>
              <a:rPr lang="ja-JP" altLang="en-US" sz="2400" dirty="0"/>
              <a:t>・知識不足を痛感しました😭</a:t>
            </a:r>
            <a:endParaRPr kumimoji="1" lang="ja-JP" altLang="en-US" sz="2400" dirty="0"/>
          </a:p>
        </p:txBody>
      </p:sp>
      <p:sp>
        <p:nvSpPr>
          <p:cNvPr id="5" name="タイトル 1">
            <a:extLst>
              <a:ext uri="{FF2B5EF4-FFF2-40B4-BE49-F238E27FC236}">
                <a16:creationId xmlns:a16="http://schemas.microsoft.com/office/drawing/2014/main" id="{D0054A03-D200-3345-BD09-A7712812E348}"/>
              </a:ext>
            </a:extLst>
          </p:cNvPr>
          <p:cNvSpPr txBox="1">
            <a:spLocks/>
          </p:cNvSpPr>
          <p:nvPr/>
        </p:nvSpPr>
        <p:spPr>
          <a:xfrm>
            <a:off x="838200" y="317298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5400" b="1" dirty="0">
                <a:latin typeface="BIZ UDPゴシック" panose="020B0400000000000000" pitchFamily="50" charset="-128"/>
                <a:ea typeface="BIZ UDPゴシック" panose="020B0400000000000000" pitchFamily="50" charset="-128"/>
              </a:rPr>
              <a:t>今後の展望</a:t>
            </a:r>
          </a:p>
        </p:txBody>
      </p:sp>
      <p:sp>
        <p:nvSpPr>
          <p:cNvPr id="7" name="テキスト ボックス 6">
            <a:extLst>
              <a:ext uri="{FF2B5EF4-FFF2-40B4-BE49-F238E27FC236}">
                <a16:creationId xmlns:a16="http://schemas.microsoft.com/office/drawing/2014/main" id="{BC8FD678-024D-14DC-B3DB-59DA73997C03}"/>
              </a:ext>
            </a:extLst>
          </p:cNvPr>
          <p:cNvSpPr txBox="1"/>
          <p:nvPr/>
        </p:nvSpPr>
        <p:spPr>
          <a:xfrm>
            <a:off x="633984" y="4498551"/>
            <a:ext cx="10956846" cy="1200329"/>
          </a:xfrm>
          <a:prstGeom prst="rect">
            <a:avLst/>
          </a:prstGeom>
          <a:noFill/>
        </p:spPr>
        <p:txBody>
          <a:bodyPr wrap="none" rtlCol="0">
            <a:spAutoFit/>
          </a:bodyPr>
          <a:lstStyle/>
          <a:p>
            <a:r>
              <a:rPr lang="ja-JP" altLang="en-US" sz="2400" dirty="0"/>
              <a:t>・各モデルを単独で使う前提で評価しているため、複数モデルを条件によって</a:t>
            </a:r>
            <a:endParaRPr lang="en-US" altLang="ja-JP" sz="2400" dirty="0"/>
          </a:p>
          <a:p>
            <a:r>
              <a:rPr kumimoji="1" lang="ja-JP" altLang="en-US" sz="2400" dirty="0"/>
              <a:t>　使い分けるプログラムも作ってみたい</a:t>
            </a:r>
            <a:endParaRPr kumimoji="1" lang="en-US" altLang="ja-JP" sz="2400" dirty="0"/>
          </a:p>
          <a:p>
            <a:r>
              <a:rPr lang="ja-JP" altLang="en-US" sz="2400" dirty="0"/>
              <a:t>・勉強を頑張る💪</a:t>
            </a:r>
            <a:endParaRPr lang="en-US" altLang="ja-JP" sz="2400" dirty="0"/>
          </a:p>
        </p:txBody>
      </p:sp>
    </p:spTree>
    <p:extLst>
      <p:ext uri="{BB962C8B-B14F-4D97-AF65-F5344CB8AC3E}">
        <p14:creationId xmlns:p14="http://schemas.microsoft.com/office/powerpoint/2010/main" val="14686581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6BF22-D33F-7211-7930-4EA313C85D9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3863E50-BFD4-10F5-356A-B85B4C19D935}"/>
              </a:ext>
            </a:extLst>
          </p:cNvPr>
          <p:cNvSpPr>
            <a:spLocks noGrp="1"/>
          </p:cNvSpPr>
          <p:nvPr>
            <p:ph type="title"/>
          </p:nvPr>
        </p:nvSpPr>
        <p:spPr/>
        <p:txBody>
          <a:bodyPr>
            <a:normAutofit/>
          </a:bodyPr>
          <a:lstStyle/>
          <a:p>
            <a:r>
              <a:rPr kumimoji="1" lang="ja-JP" altLang="en-US" sz="5400" b="1" dirty="0">
                <a:latin typeface="BIZ UDPゴシック" panose="020B0400000000000000" pitchFamily="50" charset="-128"/>
                <a:ea typeface="BIZ UDPゴシック" panose="020B0400000000000000" pitchFamily="50" charset="-128"/>
              </a:rPr>
              <a:t>感想</a:t>
            </a:r>
          </a:p>
        </p:txBody>
      </p:sp>
      <p:sp>
        <p:nvSpPr>
          <p:cNvPr id="3" name="スライド番号プレースホルダー 2">
            <a:extLst>
              <a:ext uri="{FF2B5EF4-FFF2-40B4-BE49-F238E27FC236}">
                <a16:creationId xmlns:a16="http://schemas.microsoft.com/office/drawing/2014/main" id="{3081E2A0-35AD-81DB-BFB5-D4955025EE45}"/>
              </a:ext>
            </a:extLst>
          </p:cNvPr>
          <p:cNvSpPr>
            <a:spLocks noGrp="1"/>
          </p:cNvSpPr>
          <p:nvPr>
            <p:ph type="sldNum" sz="quarter" idx="12"/>
          </p:nvPr>
        </p:nvSpPr>
        <p:spPr/>
        <p:txBody>
          <a:bodyPr/>
          <a:lstStyle/>
          <a:p>
            <a:fld id="{C636472C-77F3-4730-9E58-470BC344D402}" type="slidenum">
              <a:rPr kumimoji="1" lang="ja-JP" altLang="en-US" smtClean="0"/>
              <a:t>20</a:t>
            </a:fld>
            <a:endParaRPr kumimoji="1" lang="ja-JP" altLang="en-US"/>
          </a:p>
        </p:txBody>
      </p:sp>
      <p:sp>
        <p:nvSpPr>
          <p:cNvPr id="4" name="テキスト ボックス 3">
            <a:extLst>
              <a:ext uri="{FF2B5EF4-FFF2-40B4-BE49-F238E27FC236}">
                <a16:creationId xmlns:a16="http://schemas.microsoft.com/office/drawing/2014/main" id="{EE45B4D9-5E57-E679-99F7-8E91F560A29B}"/>
              </a:ext>
            </a:extLst>
          </p:cNvPr>
          <p:cNvSpPr txBox="1"/>
          <p:nvPr/>
        </p:nvSpPr>
        <p:spPr>
          <a:xfrm>
            <a:off x="367792" y="1690688"/>
            <a:ext cx="6340197" cy="4154984"/>
          </a:xfrm>
          <a:prstGeom prst="rect">
            <a:avLst/>
          </a:prstGeom>
          <a:noFill/>
        </p:spPr>
        <p:txBody>
          <a:bodyPr wrap="none" rtlCol="0">
            <a:spAutoFit/>
          </a:bodyPr>
          <a:lstStyle/>
          <a:p>
            <a:r>
              <a:rPr lang="ja-JP" altLang="en-US" sz="2400" dirty="0"/>
              <a:t>・普段の学校生活とは違った、刺激のある</a:t>
            </a:r>
            <a:endParaRPr lang="en-US" altLang="ja-JP" sz="2400" dirty="0"/>
          </a:p>
          <a:p>
            <a:r>
              <a:rPr lang="ja-JP" altLang="en-US" sz="2400" dirty="0"/>
              <a:t>　</a:t>
            </a:r>
            <a:r>
              <a:rPr lang="en-US" altLang="ja-JP" sz="2400" dirty="0"/>
              <a:t>2</a:t>
            </a:r>
            <a:r>
              <a:rPr lang="ja-JP" altLang="en-US" sz="2400" dirty="0"/>
              <a:t>週間でとても楽しかった😆</a:t>
            </a:r>
            <a:endParaRPr lang="en-US" altLang="ja-JP" sz="2400" dirty="0"/>
          </a:p>
          <a:p>
            <a:r>
              <a:rPr kumimoji="1" lang="ja-JP" altLang="en-US" sz="2400" dirty="0"/>
              <a:t>・研究職がどんな感じなのか、実際に見る</a:t>
            </a:r>
            <a:endParaRPr kumimoji="1" lang="en-US" altLang="ja-JP" sz="2400" dirty="0"/>
          </a:p>
          <a:p>
            <a:r>
              <a:rPr lang="ja-JP" altLang="en-US" sz="2400" dirty="0"/>
              <a:t>　</a:t>
            </a:r>
            <a:r>
              <a:rPr kumimoji="1" lang="ja-JP" altLang="en-US" sz="2400" dirty="0"/>
              <a:t>ことができてよかった☺️</a:t>
            </a:r>
            <a:endParaRPr kumimoji="1" lang="en-US" altLang="ja-JP" sz="2400" dirty="0"/>
          </a:p>
          <a:p>
            <a:r>
              <a:rPr lang="ja-JP" altLang="en-US" sz="2400" dirty="0"/>
              <a:t>・初めて神戸に来れてよかった。姫路城と</a:t>
            </a:r>
            <a:endParaRPr lang="en-US" altLang="ja-JP" sz="2400" dirty="0"/>
          </a:p>
          <a:p>
            <a:r>
              <a:rPr lang="ja-JP" altLang="en-US" sz="2400" dirty="0"/>
              <a:t>　有馬温泉を観光できて楽しかった😎</a:t>
            </a:r>
            <a:endParaRPr lang="en-US" altLang="ja-JP" sz="2400" dirty="0"/>
          </a:p>
          <a:p>
            <a:r>
              <a:rPr lang="ja-JP" altLang="en-US" sz="2400" dirty="0"/>
              <a:t>・理研の方々も、インターンに来てる学生も</a:t>
            </a:r>
            <a:endParaRPr lang="en-US" altLang="ja-JP" sz="2400" dirty="0"/>
          </a:p>
          <a:p>
            <a:r>
              <a:rPr lang="ja-JP" altLang="en-US" sz="2400" dirty="0"/>
              <a:t>　レベルが高くて危機感を感じた😢</a:t>
            </a:r>
            <a:endParaRPr lang="en-US" altLang="ja-JP" sz="2400" dirty="0"/>
          </a:p>
          <a:p>
            <a:r>
              <a:rPr lang="ja-JP" altLang="en-US" sz="2400" dirty="0"/>
              <a:t>・プログラミングのような手を動かす勉強を</a:t>
            </a:r>
            <a:endParaRPr lang="en-US" altLang="ja-JP" sz="2400" dirty="0"/>
          </a:p>
          <a:p>
            <a:r>
              <a:rPr lang="ja-JP" altLang="en-US" sz="2400" dirty="0"/>
              <a:t>　もっとしたほうがいいと思った📚️</a:t>
            </a:r>
            <a:endParaRPr lang="en-US" altLang="ja-JP" sz="2400" dirty="0"/>
          </a:p>
          <a:p>
            <a:r>
              <a:rPr lang="ja-JP" altLang="en-US" sz="2400" dirty="0"/>
              <a:t>・</a:t>
            </a:r>
            <a:r>
              <a:rPr lang="en-US" altLang="ja-JP" sz="2400" dirty="0"/>
              <a:t>AI</a:t>
            </a:r>
            <a:r>
              <a:rPr lang="ja-JP" altLang="en-US" sz="2400" dirty="0"/>
              <a:t> </a:t>
            </a:r>
            <a:r>
              <a:rPr lang="en-US" altLang="ja-JP" sz="2400" dirty="0"/>
              <a:t>Agent</a:t>
            </a:r>
            <a:r>
              <a:rPr lang="ja-JP" altLang="en-US" sz="2400" dirty="0"/>
              <a:t>ってすごい😇</a:t>
            </a:r>
            <a:endParaRPr lang="en-US" altLang="ja-JP" sz="2400" dirty="0"/>
          </a:p>
        </p:txBody>
      </p:sp>
      <p:pic>
        <p:nvPicPr>
          <p:cNvPr id="8" name="図 7">
            <a:extLst>
              <a:ext uri="{FF2B5EF4-FFF2-40B4-BE49-F238E27FC236}">
                <a16:creationId xmlns:a16="http://schemas.microsoft.com/office/drawing/2014/main" id="{5D8F7754-8D79-4C50-F578-2E1045E7C7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8925" y="0"/>
            <a:ext cx="5143075" cy="6858000"/>
          </a:xfrm>
          <a:prstGeom prst="rect">
            <a:avLst/>
          </a:prstGeom>
        </p:spPr>
      </p:pic>
    </p:spTree>
    <p:extLst>
      <p:ext uri="{BB962C8B-B14F-4D97-AF65-F5344CB8AC3E}">
        <p14:creationId xmlns:p14="http://schemas.microsoft.com/office/powerpoint/2010/main" val="5839782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1236</TotalTime>
  <Words>2965</Words>
  <Application>Microsoft Office PowerPoint</Application>
  <PresentationFormat>ワイド画面</PresentationFormat>
  <Paragraphs>332</Paragraphs>
  <Slides>20</Slides>
  <Notes>18</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20</vt:i4>
      </vt:variant>
    </vt:vector>
  </HeadingPairs>
  <TitlesOfParts>
    <vt:vector size="25" baseType="lpstr">
      <vt:lpstr>BIZ UDPゴシック</vt:lpstr>
      <vt:lpstr>游ゴシック</vt:lpstr>
      <vt:lpstr>游ゴシック Light</vt:lpstr>
      <vt:lpstr>Arial</vt:lpstr>
      <vt:lpstr>Office テーマ</vt:lpstr>
      <vt:lpstr>富岳の消費電力予測における 時系列基盤モデルと機械学習の比較</vt:lpstr>
      <vt:lpstr>自己紹介</vt:lpstr>
      <vt:lpstr>目的</vt:lpstr>
      <vt:lpstr>実行環境</vt:lpstr>
      <vt:lpstr>富岳のジョブログを時系列に変換</vt:lpstr>
      <vt:lpstr>モデル比較の設計</vt:lpstr>
      <vt:lpstr>実装するアーキテクチャ</vt:lpstr>
      <vt:lpstr>実装するアーキテクチャ</vt:lpstr>
      <vt:lpstr>test全体の結果</vt:lpstr>
      <vt:lpstr>結果からわかること</vt:lpstr>
      <vt:lpstr>予測ホライズンでの分析</vt:lpstr>
      <vt:lpstr>期間での分析</vt:lpstr>
      <vt:lpstr>PowerPoint プレゼンテーション</vt:lpstr>
      <vt:lpstr>Newsvendor理論に見るコスト削減とその限界</vt:lpstr>
      <vt:lpstr>PowerPoint プレゼンテーション</vt:lpstr>
      <vt:lpstr>まとめ</vt:lpstr>
      <vt:lpstr>発展</vt:lpstr>
      <vt:lpstr>PowerPoint プレゼンテーション</vt:lpstr>
      <vt:lpstr>反省</vt:lpstr>
      <vt:lpstr>感想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４Ｊ-２０ f23098_一関高専</dc:creator>
  <cp:lastModifiedBy>４Ｊ-２０ f23098_一関高専</cp:lastModifiedBy>
  <cp:revision>9</cp:revision>
  <dcterms:created xsi:type="dcterms:W3CDTF">2026-08-25T02:51:36Z</dcterms:created>
  <dcterms:modified xsi:type="dcterms:W3CDTF">2026-08-27T07:01:59Z</dcterms:modified>
</cp:coreProperties>
</file>